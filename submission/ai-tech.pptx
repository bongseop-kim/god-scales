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635ef27ae24f3b" /><Relationship Type="http://schemas.openxmlformats.org/officeDocument/2006/relationships/extended-properties" Target="/docProps/app.xml" Id="R914ef1e063f543e7" /><Relationship Type="http://schemas.openxmlformats.org/officeDocument/2006/relationships/officeDocument" Target="/ppt/presentation.xml" Id="R0d2854d8d45548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02fdd492684cce"/>
  </p:sldMasterIdLst>
  <p:notesMasterIdLst>
    <p:notesMasterId xmlns:r="http://schemas.openxmlformats.org/officeDocument/2006/relationships" r:id="R6b9cb0bbb72745c0"/>
  </p:notesMasterIdLst>
  <p:sldIdLst>
    <p:sldId xmlns:r="http://schemas.openxmlformats.org/officeDocument/2006/relationships" id="256" r:id="R97eb849c4e2246a2"/>
    <p:sldId xmlns:r="http://schemas.openxmlformats.org/officeDocument/2006/relationships" id="257" r:id="Re2496466d9c54c95"/>
    <p:sldId xmlns:r="http://schemas.openxmlformats.org/officeDocument/2006/relationships" id="258" r:id="Rd2ac5d1efabc4aec"/>
    <p:sldId xmlns:r="http://schemas.openxmlformats.org/officeDocument/2006/relationships" id="259" r:id="R2513e4f666e54898"/>
    <p:sldId xmlns:r="http://schemas.openxmlformats.org/officeDocument/2006/relationships" id="260" r:id="R3efbcd2fca9d46aa"/>
    <p:sldId xmlns:r="http://schemas.openxmlformats.org/officeDocument/2006/relationships" id="261" r:id="R992425f97c854b79"/>
    <p:sldId xmlns:r="http://schemas.openxmlformats.org/officeDocument/2006/relationships" id="262" r:id="R169d94ec626b4ec5"/>
    <p:sldId xmlns:r="http://schemas.openxmlformats.org/officeDocument/2006/relationships" id="263" r:id="Rd942b996ffd949be"/>
    <p:sldId xmlns:r="http://schemas.openxmlformats.org/officeDocument/2006/relationships" id="264" r:id="R1e039db03b5d4121"/>
    <p:sldId xmlns:r="http://schemas.openxmlformats.org/officeDocument/2006/relationships" id="265" r:id="Rb916746589794acd"/>
    <p:sldId xmlns:r="http://schemas.openxmlformats.org/officeDocument/2006/relationships" id="266" r:id="R0ff6cb9ad32746d6"/>
    <p:sldId xmlns:r="http://schemas.openxmlformats.org/officeDocument/2006/relationships" id="267" r:id="R85bc751a71d84ec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652a83f1eb49a1" /><Relationship Type="http://schemas.openxmlformats.org/officeDocument/2006/relationships/slideMaster" Target="/ppt/slideMasters/slideMaster1.xml" Id="R1402fdd492684cce" /><Relationship Type="http://schemas.openxmlformats.org/officeDocument/2006/relationships/notesMaster" Target="/ppt/notesMasters/notesMaster1.xml" Id="R6b9cb0bbb72745c0" /><Relationship Type="http://schemas.openxmlformats.org/officeDocument/2006/relationships/presProps" Target="/ppt/presProps.xml" Id="R7bbe49a6dbdf41b6" /><Relationship Type="http://schemas.openxmlformats.org/officeDocument/2006/relationships/tableStyles" Target="/ppt/tableStyles.xml" Id="R6c9ab968b5dd47a8" /><Relationship Type="http://schemas.openxmlformats.org/officeDocument/2006/relationships/slide" Target="/ppt/slides/slide1.xml" Id="R97eb849c4e2246a2" /><Relationship Type="http://schemas.openxmlformats.org/officeDocument/2006/relationships/slide" Target="/ppt/slides/slide2.xml" Id="Re2496466d9c54c95" /><Relationship Type="http://schemas.openxmlformats.org/officeDocument/2006/relationships/slide" Target="/ppt/slides/slide3.xml" Id="Rd2ac5d1efabc4aec" /><Relationship Type="http://schemas.openxmlformats.org/officeDocument/2006/relationships/slide" Target="/ppt/slides/slide4.xml" Id="R2513e4f666e54898" /><Relationship Type="http://schemas.openxmlformats.org/officeDocument/2006/relationships/slide" Target="/ppt/slides/slide5.xml" Id="R3efbcd2fca9d46aa" /><Relationship Type="http://schemas.openxmlformats.org/officeDocument/2006/relationships/slide" Target="/ppt/slides/slide6.xml" Id="R992425f97c854b79" /><Relationship Type="http://schemas.openxmlformats.org/officeDocument/2006/relationships/slide" Target="/ppt/slides/slide7.xml" Id="R169d94ec626b4ec5" /><Relationship Type="http://schemas.openxmlformats.org/officeDocument/2006/relationships/slide" Target="/ppt/slides/slide8.xml" Id="Rd942b996ffd949be" /><Relationship Type="http://schemas.openxmlformats.org/officeDocument/2006/relationships/slide" Target="/ppt/slides/slide9.xml" Id="R1e039db03b5d4121" /><Relationship Type="http://schemas.openxmlformats.org/officeDocument/2006/relationships/slide" Target="/ppt/slides/slide10.xml" Id="Rb916746589794acd" /><Relationship Type="http://schemas.openxmlformats.org/officeDocument/2006/relationships/slide" Target="/ppt/slides/slide11.xml" Id="R0ff6cb9ad32746d6" /><Relationship Type="http://schemas.openxmlformats.org/officeDocument/2006/relationships/slide" Target="/ppt/slides/slide12.xml" Id="R85bc751a71d84e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b59a48580d4e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b317986ce24cc3" /><Relationship Type="http://schemas.openxmlformats.org/officeDocument/2006/relationships/notesMaster" Target="/ppt/notesMasters/notesMaster1.xml" Id="R9c22db0677be47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64415ee2f54868" /><Relationship Type="http://schemas.openxmlformats.org/officeDocument/2006/relationships/notesMaster" Target="/ppt/notesMasters/notesMaster1.xml" Id="Rab3094e9a9fa4b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28c68054644d65" /><Relationship Type="http://schemas.openxmlformats.org/officeDocument/2006/relationships/notesMaster" Target="/ppt/notesMasters/notesMaster1.xml" Id="R0def73f9e7b745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dea5493a9d440f" /><Relationship Type="http://schemas.openxmlformats.org/officeDocument/2006/relationships/notesMaster" Target="/ppt/notesMasters/notesMaster1.xml" Id="R99df615692d34d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731d63e4924f4a" /><Relationship Type="http://schemas.openxmlformats.org/officeDocument/2006/relationships/notesMaster" Target="/ppt/notesMasters/notesMaster1.xml" Id="Rfc47926819bd42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95c11f41aa43f9" /><Relationship Type="http://schemas.openxmlformats.org/officeDocument/2006/relationships/notesMaster" Target="/ppt/notesMasters/notesMaster1.xml" Id="R9679b1ca40424a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430cf01aec74be4" /><Relationship Type="http://schemas.openxmlformats.org/officeDocument/2006/relationships/notesMaster" Target="/ppt/notesMasters/notesMaster1.xml" Id="Ra84ca2ce5011454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8a5f9b08be3415e" /><Relationship Type="http://schemas.openxmlformats.org/officeDocument/2006/relationships/notesMaster" Target="/ppt/notesMasters/notesMaster1.xml" Id="R486dd40c791b49e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3bad937bb6a4d16" /><Relationship Type="http://schemas.openxmlformats.org/officeDocument/2006/relationships/notesMaster" Target="/ppt/notesMasters/notesMaster1.xml" Id="R06b06bd76274465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9c06113f5d34eb1" /><Relationship Type="http://schemas.openxmlformats.org/officeDocument/2006/relationships/notesMaster" Target="/ppt/notesMasters/notesMaster1.xml" Id="R6fa8180a0c48464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4f01a5a09af480a" /><Relationship Type="http://schemas.openxmlformats.org/officeDocument/2006/relationships/notesMaster" Target="/ppt/notesMasters/notesMaster1.xml" Id="Rb0bf6b78e3b248a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07978b9f94847d0" /><Relationship Type="http://schemas.openxmlformats.org/officeDocument/2006/relationships/notesMaster" Target="/ppt/notesMasters/notesMaster1.xml" Id="R432c2c7c757b41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submission/ai-tech.html</a:t>
            </a:r>
          </a:p>
          <a:p xmlns:a="http://schemas.openxmlformats.org/drawingml/2006/main">
            <a:r>
              <a:t>- submission/shots/0-intro.webp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submission/ai-tech.html §0</a:t>
            </a:r>
          </a:p>
          <a:p xmlns:a="http://schemas.openxmlformats.org/drawingml/2006/main">
            <a:r>
              <a:t>- submission/art/system-architecture.webp</a:t>
            </a:r>
          </a:p>
          <a:p xmlns:a="http://schemas.openxmlformats.org/drawingml/2006/main">
            <a:r>
              <a:t>- reviews/00-index.md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submission/ai-tech.html §1</a:t>
            </a:r>
          </a:p>
          <a:p xmlns:a="http://schemas.openxmlformats.org/drawingml/2006/main">
            <a:r>
              <a:t>- submission/art/workflow-lifecycle.webp</a:t>
            </a:r>
          </a:p>
          <a:p xmlns:a="http://schemas.openxmlformats.org/drawingml/2006/main">
            <a:r>
              <a:t>- submission/shots/ui-before.webp</a:t>
            </a:r>
          </a:p>
          <a:p xmlns:a="http://schemas.openxmlformats.org/drawingml/2006/main">
            <a:r>
              <a:t>- submission/shots/p-target.webp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submission/ai-tech.html §2</a:t>
            </a:r>
          </a:p>
          <a:p xmlns:a="http://schemas.openxmlformats.org/drawingml/2006/main">
            <a:r>
              <a:t>- WRITING.md</a:t>
            </a:r>
          </a:p>
          <a:p xmlns:a="http://schemas.openxmlformats.org/drawingml/2006/main">
            <a:r>
              <a:t>- UI.md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submission/ai-tech.html §3</a:t>
            </a:r>
          </a:p>
          <a:p xmlns:a="http://schemas.openxmlformats.org/drawingml/2006/main">
            <a:r>
              <a:t>- reviews/00-index.md</a:t>
            </a:r>
          </a:p>
          <a:p xmlns:a="http://schemas.openxmlformats.org/drawingml/2006/main">
            <a:r>
              <a:t>- PR #11 CodeRabbit review excerpts reproduced in source 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submission/ai-tech.html §4</a:t>
            </a:r>
          </a:p>
          <a:p xmlns:a="http://schemas.openxmlformats.org/drawingml/2006/main">
            <a:r>
              <a:t>- submission/art/content-validation.webp</a:t>
            </a:r>
          </a:p>
          <a:p xmlns:a="http://schemas.openxmlformats.org/drawingml/2006/main">
            <a:r>
              <a:t>- logs/generation/card-v1-zeus.md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submission/ai-tech.html §5</a:t>
            </a:r>
          </a:p>
          <a:p xmlns:a="http://schemas.openxmlformats.org/drawingml/2006/main">
            <a:r>
              <a:t>- submission/shots/aside.webp</a:t>
            </a:r>
          </a:p>
          <a:p xmlns:a="http://schemas.openxmlformats.org/drawingml/2006/main">
            <a:r>
              <a:t>- tools/e2e.ts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submission/ai-tech.html §6</a:t>
            </a:r>
          </a:p>
          <a:p xmlns:a="http://schemas.openxmlformats.org/drawingml/2006/main">
            <a:r>
              <a:t>- tools/tune.ts</a:t>
            </a:r>
          </a:p>
          <a:p xmlns:a="http://schemas.openxmlformats.org/drawingml/2006/main">
            <a:r>
              <a:t>- source HTML chart values from submission-time npm run tune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submission/ai-tech.html §7</a:t>
            </a:r>
          </a:p>
          <a:p xmlns:a="http://schemas.openxmlformats.org/drawingml/2006/main">
            <a:r>
              <a:t>- submission/shots/stats-matrix.webp</a:t>
            </a:r>
          </a:p>
          <a:p xmlns:a="http://schemas.openxmlformats.org/drawingml/2006/main">
            <a:r>
              <a:t>- submission/shots/stats-favor.webp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submission/ai-tech.html §8</a:t>
            </a:r>
          </a:p>
          <a:p xmlns:a="http://schemas.openxmlformats.org/drawingml/2006/main">
            <a:r>
              <a:t>- submission/shots/sprite-source.webp</a:t>
            </a:r>
          </a:p>
          <a:p xmlns:a="http://schemas.openxmlformats.org/drawingml/2006/main">
            <a:r>
              <a:t>- submission/shots/sprite-qa.webp</a:t>
            </a:r>
          </a:p>
          <a:p xmlns:a="http://schemas.openxmlformats.org/drawingml/2006/main">
            <a:r>
              <a:t>- submission/shots/sprite-deploy.webp</a:t>
            </a:r>
          </a:p>
          <a:p xmlns:a="http://schemas.openxmlformats.org/drawingml/2006/main">
            <a:r>
              <a:t>- art/README.md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submission/ai-tech.html §9</a:t>
            </a:r>
          </a:p>
          <a:p xmlns:a="http://schemas.openxmlformats.org/drawingml/2006/main">
            <a:r>
              <a:t>- submission/art/voice-build.webp</a:t>
            </a:r>
          </a:p>
          <a:p xmlns:a="http://schemas.openxmlformats.org/drawingml/2006/main">
            <a:r>
              <a:t>- tools/tts.py</a:t>
            </a:r>
          </a:p>
          <a:p xmlns:a="http://schemas.openxmlformats.org/drawingml/2006/main">
            <a:r>
              <a:t>- test/tts.test.ts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submission/ai-tech.html §10</a:t>
            </a:r>
          </a:p>
          <a:p xmlns:a="http://schemas.openxmlformats.org/drawingml/2006/main">
            <a:r>
              <a:t>- submission/art/runtime-boundary.webp</a:t>
            </a:r>
          </a:p>
          <a:p xmlns:a="http://schemas.openxmlformats.org/drawingml/2006/main">
            <a:r>
              <a:t>- ATTRIBUTION.md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1df2fb52ec47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d1f4b3582d4ea8" /><Relationship Type="http://schemas.openxmlformats.org/officeDocument/2006/relationships/slideLayout" Target="/ppt/slideLayouts/slideLayout1.xml" Id="R72d96ba77f6c45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d96ba77f6c45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188db3aad480c" /><Relationship Type="http://schemas.openxmlformats.org/officeDocument/2006/relationships/image" Target="/ppt/media/image.bin" Id="Rb99701a6cf034977" /><Relationship Type="http://schemas.openxmlformats.org/officeDocument/2006/relationships/notesSlide" Target="/ppt/notesSlides/notesSlide1.xml" Id="Rf1a36e3f06e241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18a832da7f40b1" /><Relationship Type="http://schemas.openxmlformats.org/officeDocument/2006/relationships/image" Target="/ppt/media/image2.bin" Id="R1ece2e436c9343ce" /><Relationship Type="http://schemas.openxmlformats.org/officeDocument/2006/relationships/notesSlide" Target="/ppt/notesSlides/notesSlide2.xml" Id="R631015a4ceff4a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406daaaa514559" /><Relationship Type="http://schemas.openxmlformats.org/officeDocument/2006/relationships/image" Target="/ppt/media/image3.bin" Id="R56ab7ce41862402a" /><Relationship Type="http://schemas.openxmlformats.org/officeDocument/2006/relationships/image" Target="/ppt/media/image4.bin" Id="Ra28856bb3a5a41d5" /><Relationship Type="http://schemas.openxmlformats.org/officeDocument/2006/relationships/image" Target="/ppt/media/image5.bin" Id="Rd8b393619363424e" /><Relationship Type="http://schemas.openxmlformats.org/officeDocument/2006/relationships/notesSlide" Target="/ppt/notesSlides/notesSlide3.xml" Id="R3b35f5547f7c47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5bc38e6a3043eb" /><Relationship Type="http://schemas.openxmlformats.org/officeDocument/2006/relationships/notesSlide" Target="/ppt/notesSlides/notesSlide4.xml" Id="Re3e0288ed03441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01101fc01f45d1" /><Relationship Type="http://schemas.openxmlformats.org/officeDocument/2006/relationships/notesSlide" Target="/ppt/notesSlides/notesSlide5.xml" Id="R75b9d0f9343349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19d35e21b64a9c" /><Relationship Type="http://schemas.openxmlformats.org/officeDocument/2006/relationships/image" Target="/ppt/media/image6.bin" Id="Rb2288dd734284acd" /><Relationship Type="http://schemas.openxmlformats.org/officeDocument/2006/relationships/notesSlide" Target="/ppt/notesSlides/notesSlide6.xml" Id="R80504c51a5b44a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72a1ad538b4628" /><Relationship Type="http://schemas.openxmlformats.org/officeDocument/2006/relationships/image" Target="/ppt/media/image7.bin" Id="Re48797b624454a67" /><Relationship Type="http://schemas.openxmlformats.org/officeDocument/2006/relationships/notesSlide" Target="/ppt/notesSlides/notesSlide7.xml" Id="R88a7643125ac4b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d1b63ab65d4acf" /><Relationship Type="http://schemas.openxmlformats.org/officeDocument/2006/relationships/chart" Target="/ppt/slides/charts/chart1.xml" Id="R1d794ccfc8c34de4" /><Relationship Type="http://schemas.openxmlformats.org/officeDocument/2006/relationships/notesSlide" Target="/ppt/notesSlides/notesSlide8.xml" Id="R2c4d82a8ff47406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f73fc3bc942e8" /><Relationship Type="http://schemas.openxmlformats.org/officeDocument/2006/relationships/image" Target="/ppt/media/image8.bin" Id="Re017e24a365841c7" /><Relationship Type="http://schemas.openxmlformats.org/officeDocument/2006/relationships/image" Target="/ppt/media/image9.bin" Id="R936689c759034a87" /><Relationship Type="http://schemas.openxmlformats.org/officeDocument/2006/relationships/notesSlide" Target="/ppt/notesSlides/notesSlide9.xml" Id="R46a2ad6bc94d400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81fd6ba394afc" /><Relationship Type="http://schemas.openxmlformats.org/officeDocument/2006/relationships/image" Target="/ppt/media/image10.bin" Id="R8e894fc322d2404a" /><Relationship Type="http://schemas.openxmlformats.org/officeDocument/2006/relationships/image" Target="/ppt/media/image11.bin" Id="R5be468a064b4491b" /><Relationship Type="http://schemas.openxmlformats.org/officeDocument/2006/relationships/image" Target="/ppt/media/image12.bin" Id="Re6362f4b99764113" /><Relationship Type="http://schemas.openxmlformats.org/officeDocument/2006/relationships/notesSlide" Target="/ppt/notesSlides/notesSlide10.xml" Id="R3b8a1e7368674e6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14a770cb5d485d" /><Relationship Type="http://schemas.openxmlformats.org/officeDocument/2006/relationships/image" Target="/ppt/media/image13.bin" Id="R4125903c11174db5" /><Relationship Type="http://schemas.openxmlformats.org/officeDocument/2006/relationships/notesSlide" Target="/ppt/notesSlides/notesSlide11.xml" Id="R5719fbd5c3354bf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009c57381241b6" /><Relationship Type="http://schemas.openxmlformats.org/officeDocument/2006/relationships/image" Target="/ppt/media/image14.bin" Id="R0815a395ad8a42a6" /><Relationship Type="http://schemas.openxmlformats.org/officeDocument/2006/relationships/notesSlide" Target="/ppt/notesSlides/notesSlide12.xml" Id="R219947b836ce4c2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탐욕 봇 ε=0</c:v>
          </c:tx>
          <c:spPr>
            <a:solidFill xmlns:a="http://schemas.openxmlformats.org/drawingml/2006/main">
              <a:srgbClr val="D59B2D"/>
            </a:solidFill>
          </c:spPr>
          <c:cat>
            <c:strLit>
              <c:ptCount val="10"/>
              <c:pt idx="0">
                <c:v>제우스+아레스</c:v>
              </c:pt>
              <c:pt idx="1">
                <c:v>제우스+포세</c:v>
              </c:pt>
              <c:pt idx="2">
                <c:v>제우스+아르테</c:v>
              </c:pt>
              <c:pt idx="3">
                <c:v>제우스+아테나</c:v>
              </c:pt>
              <c:pt idx="4">
                <c:v>아레스+아르테</c:v>
              </c:pt>
              <c:pt idx="5">
                <c:v>포세+아레스</c:v>
              </c:pt>
              <c:pt idx="6">
                <c:v>아테나+아레스</c:v>
              </c:pt>
              <c:pt idx="7">
                <c:v>포세+아르테</c:v>
              </c:pt>
              <c:pt idx="8">
                <c:v>아테나+아르테</c:v>
              </c:pt>
              <c:pt idx="9">
                <c:v>포세+아테나</c:v>
              </c:pt>
            </c:strLit>
          </c:cat>
          <c:val>
            <c:numLit>
              <c:formatCode>General</c:formatCode>
              <c:ptCount val="10"/>
              <c:pt idx="0">
                <c:v>49</c:v>
              </c:pt>
              <c:pt idx="1">
                <c:v>71.7</c:v>
              </c:pt>
              <c:pt idx="2">
                <c:v>73.3</c:v>
              </c:pt>
              <c:pt idx="3">
                <c:v>74.3</c:v>
              </c:pt>
              <c:pt idx="4">
                <c:v>74.3</c:v>
              </c:pt>
              <c:pt idx="5">
                <c:v>81.7</c:v>
              </c:pt>
              <c:pt idx="6">
                <c:v>85</c:v>
              </c:pt>
              <c:pt idx="7">
                <c:v>88</c:v>
              </c:pt>
              <c:pt idx="8">
                <c:v>89.3</c:v>
              </c:pt>
              <c:pt idx="9">
                <c:v>94.3</c:v>
              </c:pt>
            </c:numLit>
          </c:val>
        </c:ser>
        <c:ser>
          <c:idx val="1"/>
          <c:order val="1"/>
          <c:tx>
            <c:v>사람 근사 ε=0.45</c:v>
          </c:tx>
          <c:spPr>
            <a:solidFill xmlns:a="http://schemas.openxmlformats.org/drawingml/2006/main">
              <a:srgbClr val="777E88"/>
            </a:solidFill>
          </c:spPr>
          <c:cat>
            <c:strLit>
              <c:ptCount val="10"/>
              <c:pt idx="0">
                <c:v>제우스+아레스</c:v>
              </c:pt>
              <c:pt idx="1">
                <c:v>제우스+포세</c:v>
              </c:pt>
              <c:pt idx="2">
                <c:v>제우스+아르테</c:v>
              </c:pt>
              <c:pt idx="3">
                <c:v>제우스+아테나</c:v>
              </c:pt>
              <c:pt idx="4">
                <c:v>아레스+아르테</c:v>
              </c:pt>
              <c:pt idx="5">
                <c:v>포세+아레스</c:v>
              </c:pt>
              <c:pt idx="6">
                <c:v>아테나+아레스</c:v>
              </c:pt>
              <c:pt idx="7">
                <c:v>포세+아르테</c:v>
              </c:pt>
              <c:pt idx="8">
                <c:v>아테나+아르테</c:v>
              </c:pt>
              <c:pt idx="9">
                <c:v>포세+아테나</c:v>
              </c:pt>
            </c:strLit>
          </c:cat>
          <c:val>
            <c:numLit>
              <c:formatCode>General</c:formatCode>
              <c:ptCount val="10"/>
              <c:pt idx="0">
                <c:v>42.3</c:v>
              </c:pt>
              <c:pt idx="1">
                <c:v>57.7</c:v>
              </c:pt>
              <c:pt idx="2">
                <c:v>57.3</c:v>
              </c:pt>
              <c:pt idx="3">
                <c:v>56.3</c:v>
              </c:pt>
              <c:pt idx="4">
                <c:v>60.7</c:v>
              </c:pt>
              <c:pt idx="5">
                <c:v>68</c:v>
              </c:pt>
              <c:pt idx="6">
                <c:v>73</c:v>
              </c:pt>
              <c:pt idx="7">
                <c:v>75.3</c:v>
              </c:pt>
              <c:pt idx="8">
                <c:v>77.7</c:v>
              </c:pt>
              <c:pt idx="9">
                <c:v>82</c:v>
              </c:pt>
            </c:numLit>
          </c:val>
        </c:ser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DDD3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8D1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B728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1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B1F27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CFAF5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1B1F27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CFAF5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9701a6cf034977"/>
          <a:srcRect xmlns:a="http://schemas.openxmlformats.org/drawingml/2006/main" l="18967" t="0" r="189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81625" y="0"/>
            <a:ext cx="681037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left">
            <a:extLst xmlns:a="http://schemas.openxmlformats.org/drawingml/2006/main">
              <a:ext uri="{FF2B5EF4-FFF2-40B4-BE49-F238E27FC236}">
                <a16:creationId xmlns:a16="http://schemas.microsoft.com/office/drawing/2014/main" id="{E7BA7820-9D09-457D-999E-29BD40E4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8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824CE21E-9C99-4BC2-819D-D956E6C4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B725FE8D-CEDD-4914-8BD3-89ABCD58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0C96B"/>
                </a:solidFill>
              </a:defRPr>
            </a:pPr>
            <a:r>
              <a:rPr sz="1350" b="1" i="0">
                <a:solidFill>
                  <a:srgbClr val="F0C96B"/>
                </a:solidFill>
              </a:rPr>
              <a:t>NAN 2026 · 사전 과제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9A2EF5D-A975-45D3-A960-F036382E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857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FFFFFF"/>
                </a:solidFill>
              </a:defRPr>
            </a:pPr>
            <a:r>
              <a:rPr sz="4650" b="1" i="0">
                <a:solidFill>
                  <a:srgbClr val="FFFFFF"/>
                </a:solidFill>
              </a:rPr>
              <a:t>AI를 어디에,</a:t>
            </a:r>
          </a:p>
          <a:p xmlns:a="http://schemas.openxmlformats.org/drawingml/2006/main">
            <a:pPr algn="l">
              <a:defRPr sz="4650" b="1" i="0">
                <a:solidFill>
                  <a:srgbClr val="FFFFFF"/>
                </a:solidFill>
              </a:defRPr>
            </a:pPr>
            <a:r>
              <a:rPr sz="4650" b="1" i="0">
                <a:solidFill>
                  <a:srgbClr val="FFFFFF"/>
                </a:solidFill>
              </a:rPr>
              <a:t>어떻게 부렸는가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97BBC7D-C217-415A-A7EF-90B0AE4C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76625"/>
            <a:ext cx="457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D4D6DB"/>
                </a:solidFill>
              </a:defRPr>
            </a:pPr>
            <a:r>
              <a:rPr sz="1950" b="0" i="0">
                <a:solidFill>
                  <a:srgbClr val="D4D6DB"/>
                </a:solidFill>
              </a:rPr>
              <a:t>신들의 저울 개발 과정에서</a:t>
            </a:r>
          </a:p>
          <a:p xmlns:a="http://schemas.openxmlformats.org/drawingml/2006/main">
            <a:pPr algn="l">
              <a:defRPr sz="1950" b="0" i="0">
                <a:solidFill>
                  <a:srgbClr val="D4D6DB"/>
                </a:solidFill>
              </a:defRPr>
            </a:pPr>
            <a:r>
              <a:rPr sz="1950" b="0" i="0">
                <a:solidFill>
                  <a:srgbClr val="D4D6DB"/>
                </a:solidFill>
              </a:rPr>
              <a:t>AI 산출물을 검증 가능한 결과로 바꾼 방법</a:t>
            </a:r>
          </a:p>
        </p:txBody>
      </p:sp>
      <p:sp>
        <p:nvSpPr>
          <p:cNvPr id="7" name="cover-days-value">
            <a:extLst xmlns:a="http://schemas.openxmlformats.org/drawingml/2006/main">
              <a:ext uri="{FF2B5EF4-FFF2-40B4-BE49-F238E27FC236}">
                <a16:creationId xmlns:a16="http://schemas.microsoft.com/office/drawing/2014/main" id="{22CCDDD6-FAA7-486D-A721-C11A655E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101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FFFFF"/>
                </a:solidFill>
              </a:defRPr>
            </a:pPr>
            <a:r>
              <a:rPr sz="3000" b="1" i="0">
                <a:solidFill>
                  <a:srgbClr val="FFFFFF"/>
                </a:solidFill>
              </a:rPr>
              <a:t>6일</a:t>
            </a:r>
          </a:p>
        </p:txBody>
      </p:sp>
      <p:sp>
        <p:nvSpPr>
          <p:cNvPr id="8" name="cover-days-label">
            <a:extLst xmlns:a="http://schemas.openxmlformats.org/drawingml/2006/main">
              <a:ext uri="{FF2B5EF4-FFF2-40B4-BE49-F238E27FC236}">
                <a16:creationId xmlns:a16="http://schemas.microsoft.com/office/drawing/2014/main" id="{66A6654D-36ED-41CB-899D-63B71691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054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BEC2CA"/>
                </a:solidFill>
              </a:defRPr>
            </a:pPr>
            <a:r>
              <a:rPr sz="1350" b="0" i="0">
                <a:solidFill>
                  <a:srgbClr val="BEC2CA"/>
                </a:solidFill>
              </a:rPr>
              <a:t>기획부터 배포까지</a:t>
            </a:r>
          </a:p>
        </p:txBody>
      </p:sp>
      <p:sp>
        <p:nvSpPr>
          <p:cNvPr id="9" name="cover-reviews-value">
            <a:extLst xmlns:a="http://schemas.openxmlformats.org/drawingml/2006/main">
              <a:ext uri="{FF2B5EF4-FFF2-40B4-BE49-F238E27FC236}">
                <a16:creationId xmlns:a16="http://schemas.microsoft.com/office/drawing/2014/main" id="{AA7D4E7D-EC3A-4C02-9684-A24243CC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01015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FFFFF"/>
                </a:solidFill>
              </a:defRPr>
            </a:pPr>
            <a:r>
              <a:rPr sz="3000" b="1" i="0">
                <a:solidFill>
                  <a:srgbClr val="FFFFFF"/>
                </a:solidFill>
              </a:rPr>
              <a:t>85건</a:t>
            </a:r>
          </a:p>
        </p:txBody>
      </p:sp>
      <p:sp>
        <p:nvSpPr>
          <p:cNvPr id="10" name="cover-reviews-label">
            <a:extLst xmlns:a="http://schemas.openxmlformats.org/drawingml/2006/main">
              <a:ext uri="{FF2B5EF4-FFF2-40B4-BE49-F238E27FC236}">
                <a16:creationId xmlns:a16="http://schemas.microsoft.com/office/drawing/2014/main" id="{899B7A1E-DAD1-4607-BAB9-4FAA2F54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5054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BEC2CA"/>
                </a:solidFill>
              </a:defRPr>
            </a:pPr>
            <a:r>
              <a:rPr sz="1350" b="0" i="0">
                <a:solidFill>
                  <a:srgbClr val="BEC2CA"/>
                </a:solidFill>
              </a:rPr>
              <a:t>실측 리뷰 문서</a:t>
            </a:r>
          </a:p>
        </p:txBody>
      </p:sp>
      <p:sp>
        <p:nvSpPr>
          <p:cNvPr id="11" name="cover-tests-value">
            <a:extLst xmlns:a="http://schemas.openxmlformats.org/drawingml/2006/main">
              <a:ext uri="{FF2B5EF4-FFF2-40B4-BE49-F238E27FC236}">
                <a16:creationId xmlns:a16="http://schemas.microsoft.com/office/drawing/2014/main" id="{0737F703-5366-41B5-BC6D-8752F9AB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0101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FFFFF"/>
                </a:solidFill>
              </a:defRPr>
            </a:pPr>
            <a:r>
              <a:rPr sz="3000" b="1" i="0">
                <a:solidFill>
                  <a:srgbClr val="FFFFFF"/>
                </a:solidFill>
              </a:rPr>
              <a:t>204개</a:t>
            </a:r>
          </a:p>
        </p:txBody>
      </p:sp>
      <p:sp>
        <p:nvSpPr>
          <p:cNvPr id="12" name="cover-tests-label">
            <a:extLst xmlns:a="http://schemas.openxmlformats.org/drawingml/2006/main">
              <a:ext uri="{FF2B5EF4-FFF2-40B4-BE49-F238E27FC236}">
                <a16:creationId xmlns:a16="http://schemas.microsoft.com/office/drawing/2014/main" id="{6BC22358-5B07-4E56-90B4-B2E8CF81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054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BEC2CA"/>
                </a:solidFill>
              </a:defRPr>
            </a:pPr>
            <a:r>
              <a:rPr sz="1350" b="0" i="0">
                <a:solidFill>
                  <a:srgbClr val="BEC2CA"/>
                </a:solidFill>
              </a:rPr>
              <a:t>자동 테스트</a:t>
            </a:r>
          </a:p>
        </p:txBody>
      </p:sp>
      <p:sp>
        <p:nvSpPr>
          <p:cNvPr id="13" name="cover-date">
            <a:extLst xmlns:a="http://schemas.openxmlformats.org/drawingml/2006/main">
              <a:ext uri="{FF2B5EF4-FFF2-40B4-BE49-F238E27FC236}">
                <a16:creationId xmlns:a16="http://schemas.microsoft.com/office/drawing/2014/main" id="{4E6E82CE-8EB0-4DEA-ACA6-5B04ECB7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055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E838E"/>
                </a:solidFill>
              </a:defRPr>
            </a:pPr>
            <a:r>
              <a:rPr sz="1050" b="0" i="0">
                <a:solidFill>
                  <a:srgbClr val="7E838E"/>
                </a:solidFill>
              </a:rPr>
              <a:t>2026.08.04 — 08.09</a:t>
            </a:r>
          </a:p>
        </p:txBody>
      </p:sp>
    </p:spTree>
    <p:extLst>
      <p:ext uri="{BB962C8B-B14F-4D97-AF65-F5344CB8AC3E}">
        <p14:creationId xmlns:p14="http://schemas.microsoft.com/office/powerpoint/2010/main" val="5709039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2">
            <a:extLst xmlns:a="http://schemas.openxmlformats.org/drawingml/2006/main">
              <a:ext uri="{FF2B5EF4-FFF2-40B4-BE49-F238E27FC236}">
                <a16:creationId xmlns:a16="http://schemas.microsoft.com/office/drawing/2014/main" id="{D28AB2F8-05D2-4117-8EF7-1AE87FBE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0C96B"/>
                </a:solidFill>
              </a:defRPr>
            </a:pPr>
            <a:r>
              <a:rPr sz="1200" b="1" i="0">
                <a:solidFill>
                  <a:srgbClr val="F0C96B"/>
                </a:solidFill>
              </a:rPr>
              <a:t>02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6091F40E-6A58-4863-9B31-F72E572C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11318"/>
                </a:solidFill>
              </a:defRPr>
            </a:pPr>
            <a:r>
              <a:rPr sz="3150" b="1" i="0">
                <a:solidFill>
                  <a:srgbClr val="111318"/>
                </a:solidFill>
              </a:rPr>
              <a:t>AI가 만든 범위는 넓었고, 검증 기준은 하나였다</a:t>
            </a:r>
          </a:p>
        </p:txBody>
      </p:sp>
      <p:sp>
        <p:nvSpPr>
          <p:cNvPr id="3" name="subhead-2">
            <a:extLst xmlns:a="http://schemas.openxmlformats.org/drawingml/2006/main">
              <a:ext uri="{FF2B5EF4-FFF2-40B4-BE49-F238E27FC236}">
                <a16:creationId xmlns:a16="http://schemas.microsoft.com/office/drawing/2014/main" id="{23C13276-4F08-4ADD-BB8A-96D1D490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B7280"/>
                </a:solidFill>
              </a:defRPr>
            </a:pPr>
            <a:r>
              <a:rPr sz="1650" b="0" i="0">
                <a:solidFill>
                  <a:srgbClr val="6B7280"/>
                </a:solidFill>
              </a:rPr>
              <a:t>코드부터 음성까지 생성 범위는 달라도, 통과 조건은 모두 명시적으로 남겼다.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ce2e436c9343ce"/>
          <a:stretch xmlns:a="http://schemas.openxmlformats.org/drawingml/2006/main"/>
        </p:blipFill>
        <p:spPr>
          <a:xfrm xmlns:a="http://schemas.openxmlformats.org/drawingml/2006/main">
            <a:off x="695325" y="2076450"/>
            <a:ext cx="10801350" cy="3086100"/>
          </a:xfrm>
          <a:prstGeom xmlns:a="http://schemas.openxmlformats.org/drawingml/2006/main" prst="rect">
            <a:avLst/>
          </a:prstGeom>
        </p:spPr>
      </p:pic>
      <p:sp>
        <p:nvSpPr>
          <p:cNvPr id="5" name="arch-col1">
            <a:extLst xmlns:a="http://schemas.openxmlformats.org/drawingml/2006/main">
              <a:ext uri="{FF2B5EF4-FFF2-40B4-BE49-F238E27FC236}">
                <a16:creationId xmlns:a16="http://schemas.microsoft.com/office/drawing/2014/main" id="{7D68AB90-5CBA-4D3D-BA63-80894E40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9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318"/>
                </a:solidFill>
              </a:defRPr>
            </a:pPr>
            <a:r>
              <a:rPr sz="1500" b="1" i="0">
                <a:solidFill>
                  <a:srgbClr val="111318"/>
                </a:solidFill>
              </a:rPr>
              <a:t>AI 생성 범위</a:t>
            </a:r>
          </a:p>
        </p:txBody>
      </p:sp>
      <p:sp>
        <p:nvSpPr>
          <p:cNvPr id="6" name="arch-col2">
            <a:extLst xmlns:a="http://schemas.openxmlformats.org/drawingml/2006/main">
              <a:ext uri="{FF2B5EF4-FFF2-40B4-BE49-F238E27FC236}">
                <a16:creationId xmlns:a16="http://schemas.microsoft.com/office/drawing/2014/main" id="{6E135DEA-8BB9-4426-83F1-155560ED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09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318"/>
                </a:solidFill>
              </a:defRPr>
            </a:pPr>
            <a:r>
              <a:rPr sz="1500" b="1" i="0">
                <a:solidFill>
                  <a:srgbClr val="111318"/>
                </a:solidFill>
              </a:rPr>
              <a:t>검증 게이트</a:t>
            </a:r>
          </a:p>
        </p:txBody>
      </p:sp>
      <p:sp>
        <p:nvSpPr>
          <p:cNvPr id="7" name="arch-col3">
            <a:extLst xmlns:a="http://schemas.openxmlformats.org/drawingml/2006/main">
              <a:ext uri="{FF2B5EF4-FFF2-40B4-BE49-F238E27FC236}">
                <a16:creationId xmlns:a16="http://schemas.microsoft.com/office/drawing/2014/main" id="{7A6FA967-DFB7-4501-9115-98748643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318"/>
                </a:solidFill>
              </a:defRPr>
            </a:pPr>
            <a:r>
              <a:rPr sz="1500" b="1" i="0">
                <a:solidFill>
                  <a:srgbClr val="111318"/>
                </a:solidFill>
              </a:rPr>
              <a:t>남는 증거</a:t>
            </a:r>
          </a:p>
        </p:txBody>
      </p:sp>
      <p:sp>
        <p:nvSpPr>
          <p:cNvPr id="8" name="arch-left">
            <a:extLst xmlns:a="http://schemas.openxmlformats.org/drawingml/2006/main">
              <a:ext uri="{FF2B5EF4-FFF2-40B4-BE49-F238E27FC236}">
                <a16:creationId xmlns:a16="http://schemas.microsoft.com/office/drawing/2014/main" id="{DDCAB3B1-1AE2-4432-9229-FDE5FF2F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24150"/>
            <a:ext cx="2705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1B1F27"/>
                </a:solidFill>
              </a:defRPr>
            </a:pPr>
            <a:r>
              <a:rPr sz="1650" b="0" i="0">
                <a:solidFill>
                  <a:srgbClr val="1B1F27"/>
                </a:solidFill>
              </a:rPr>
              <a:t>코드 · 콘텐츠</a:t>
            </a:r>
          </a:p>
          <a:p xmlns:a="http://schemas.openxmlformats.org/drawingml/2006/main">
            <a:pPr algn="ctr">
              <a:defRPr sz="1650" b="0" i="0">
                <a:solidFill>
                  <a:srgbClr val="1B1F27"/>
                </a:solidFill>
              </a:defRPr>
            </a:pPr>
            <a:r>
              <a:rPr sz="1650" b="0" i="0">
                <a:solidFill>
                  <a:srgbClr val="1B1F27"/>
                </a:solidFill>
              </a:rPr>
              <a:t>밸런스 · 브라우저 E2E</a:t>
            </a:r>
          </a:p>
          <a:p xmlns:a="http://schemas.openxmlformats.org/drawingml/2006/main">
            <a:pPr algn="ctr">
              <a:defRPr sz="1650" b="0" i="0">
                <a:solidFill>
                  <a:srgbClr val="1B1F27"/>
                </a:solidFill>
              </a:defRPr>
            </a:pPr>
            <a:r>
              <a:rPr sz="1650" b="0" i="0">
                <a:solidFill>
                  <a:srgbClr val="1B1F27"/>
                </a:solidFill>
              </a:rPr>
              <a:t>아트 · 영상 · 음성</a:t>
            </a:r>
          </a:p>
        </p:txBody>
      </p:sp>
      <p:sp>
        <p:nvSpPr>
          <p:cNvPr id="9" name="arch-mid">
            <a:extLst xmlns:a="http://schemas.openxmlformats.org/drawingml/2006/main">
              <a:ext uri="{FF2B5EF4-FFF2-40B4-BE49-F238E27FC236}">
                <a16:creationId xmlns:a16="http://schemas.microsoft.com/office/drawing/2014/main" id="{83D1EF1C-6709-426B-867C-7394E2F2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647950"/>
            <a:ext cx="27051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B1F27"/>
                </a:solidFill>
              </a:defRPr>
            </a:pPr>
            <a:r>
              <a:rPr sz="1650" b="1" i="0">
                <a:solidFill>
                  <a:srgbClr val="1B1F27"/>
                </a:solidFill>
              </a:rPr>
              <a:t>테스트 204개</a:t>
            </a:r>
          </a:p>
          <a:p xmlns:a="http://schemas.openxmlformats.org/drawingml/2006/main">
            <a:pPr algn="ctr">
              <a:defRPr sz="1650" b="1" i="0">
                <a:solidFill>
                  <a:srgbClr val="1B1F27"/>
                </a:solidFill>
              </a:defRPr>
            </a:pPr>
            <a:r>
              <a:rPr sz="1650" b="1" i="0">
                <a:solidFill>
                  <a:srgbClr val="1B1F27"/>
                </a:solidFill>
              </a:rPr>
              <a:t>CodeRabbit 125건</a:t>
            </a:r>
          </a:p>
          <a:p xmlns:a="http://schemas.openxmlformats.org/drawingml/2006/main">
            <a:pPr algn="ctr">
              <a:defRPr sz="1650" b="1" i="0">
                <a:solidFill>
                  <a:srgbClr val="1B1F27"/>
                </a:solidFill>
              </a:defRPr>
            </a:pPr>
            <a:r>
              <a:rPr sz="1650" b="1" i="0">
                <a:solidFill>
                  <a:srgbClr val="1B1F27"/>
                </a:solidFill>
              </a:rPr>
              <a:t>반려 코드 9종</a:t>
            </a:r>
          </a:p>
          <a:p xmlns:a="http://schemas.openxmlformats.org/drawingml/2006/main">
            <a:pPr algn="ctr">
              <a:defRPr sz="1650" b="1" i="0">
                <a:solidFill>
                  <a:srgbClr val="1B1F27"/>
                </a:solidFill>
              </a:defRPr>
            </a:pPr>
            <a:r>
              <a:rPr sz="1650" b="1" i="0">
                <a:solidFill>
                  <a:srgbClr val="1B1F27"/>
                </a:solidFill>
              </a:rPr>
              <a:t>승률 하한 5%</a:t>
            </a:r>
          </a:p>
        </p:txBody>
      </p:sp>
      <p:sp>
        <p:nvSpPr>
          <p:cNvPr id="10" name="arch-right">
            <a:extLst xmlns:a="http://schemas.openxmlformats.org/drawingml/2006/main">
              <a:ext uri="{FF2B5EF4-FFF2-40B4-BE49-F238E27FC236}">
                <a16:creationId xmlns:a16="http://schemas.microsoft.com/office/drawing/2014/main" id="{781F67A1-8261-4820-A616-8663B5CA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38450"/>
            <a:ext cx="27051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1B1F27"/>
                </a:solidFill>
              </a:defRPr>
            </a:pPr>
            <a:r>
              <a:rPr sz="1650" b="0" i="0">
                <a:solidFill>
                  <a:srgbClr val="1B1F27"/>
                </a:solidFill>
              </a:rPr>
              <a:t>reviews/ 85건</a:t>
            </a:r>
          </a:p>
          <a:p xmlns:a="http://schemas.openxmlformats.org/drawingml/2006/main">
            <a:pPr algn="ctr">
              <a:defRPr sz="1650" b="0" i="0">
                <a:solidFill>
                  <a:srgbClr val="1B1F27"/>
                </a:solidFill>
              </a:defRPr>
            </a:pPr>
            <a:r>
              <a:rPr sz="1650" b="0" i="0">
                <a:solidFill>
                  <a:srgbClr val="1B1F27"/>
                </a:solidFill>
              </a:rPr>
              <a:t>logs/ · decisions/</a:t>
            </a:r>
          </a:p>
          <a:p xmlns:a="http://schemas.openxmlformats.org/drawingml/2006/main">
            <a:pPr algn="ctr">
              <a:defRPr sz="1650" b="0" i="0">
                <a:solidFill>
                  <a:srgbClr val="1B1F27"/>
                </a:solidFill>
              </a:defRPr>
            </a:pPr>
            <a:r>
              <a:rPr sz="1650" b="0" i="0">
                <a:solidFill>
                  <a:srgbClr val="1B1F27"/>
                </a:solidFill>
              </a:rPr>
              <a:t>shots/ · stats.html</a:t>
            </a:r>
          </a:p>
        </p:txBody>
      </p:sp>
      <p:sp>
        <p:nvSpPr>
          <p:cNvPr id="11" name="arch-principle-bg">
            <a:extLst xmlns:a="http://schemas.openxmlformats.org/drawingml/2006/main">
              <a:ext uri="{FF2B5EF4-FFF2-40B4-BE49-F238E27FC236}">
                <a16:creationId xmlns:a16="http://schemas.microsoft.com/office/drawing/2014/main" id="{D0C80FDD-602E-451C-9D46-D354E788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38650"/>
            <a:ext cx="9886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rch-principle">
            <a:extLst xmlns:a="http://schemas.openxmlformats.org/drawingml/2006/main">
              <a:ext uri="{FF2B5EF4-FFF2-40B4-BE49-F238E27FC236}">
                <a16:creationId xmlns:a16="http://schemas.microsoft.com/office/drawing/2014/main" id="{9E201932-3F36-44B2-A232-C201BDCE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720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AI에게 시킨 모든 작업에는 검증 단계가 따른다</a:t>
            </a:r>
          </a:p>
        </p:txBody>
      </p:sp>
      <p:sp>
        <p:nvSpPr>
          <p:cNvPr id="13" name="domain-count-value">
            <a:extLst xmlns:a="http://schemas.openxmlformats.org/drawingml/2006/main">
              <a:ext uri="{FF2B5EF4-FFF2-40B4-BE49-F238E27FC236}">
                <a16:creationId xmlns:a16="http://schemas.microsoft.com/office/drawing/2014/main" id="{230A281C-3FCD-4108-919A-AA6F27E8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911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11318"/>
                </a:solidFill>
              </a:defRPr>
            </a:pPr>
            <a:r>
              <a:rPr sz="3000" b="1" i="0">
                <a:solidFill>
                  <a:srgbClr val="111318"/>
                </a:solidFill>
              </a:rPr>
              <a:t>8개 영역</a:t>
            </a:r>
          </a:p>
        </p:txBody>
      </p:sp>
      <p:sp>
        <p:nvSpPr>
          <p:cNvPr id="14" name="domain-count-label">
            <a:extLst xmlns:a="http://schemas.openxmlformats.org/drawingml/2006/main">
              <a:ext uri="{FF2B5EF4-FFF2-40B4-BE49-F238E27FC236}">
                <a16:creationId xmlns:a16="http://schemas.microsoft.com/office/drawing/2014/main" id="{22AD2757-1CC8-4A99-B6F1-4102FA82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864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B7280"/>
                </a:solidFill>
              </a:defRPr>
            </a:pPr>
            <a:r>
              <a:rPr sz="1350" b="0" i="0">
                <a:solidFill>
                  <a:srgbClr val="6B7280"/>
                </a:solidFill>
              </a:rPr>
              <a:t>생성 범위</a:t>
            </a:r>
          </a:p>
        </p:txBody>
      </p:sp>
      <p:sp>
        <p:nvSpPr>
          <p:cNvPr id="15" name="evidence-count-value">
            <a:extLst xmlns:a="http://schemas.openxmlformats.org/drawingml/2006/main">
              <a:ext uri="{FF2B5EF4-FFF2-40B4-BE49-F238E27FC236}">
                <a16:creationId xmlns:a16="http://schemas.microsoft.com/office/drawing/2014/main" id="{0CFC98DA-FBA9-41A7-A51E-D17FCE0B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3911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11318"/>
                </a:solidFill>
              </a:defRPr>
            </a:pPr>
            <a:r>
              <a:rPr sz="3000" b="1" i="0">
                <a:solidFill>
                  <a:srgbClr val="111318"/>
                </a:solidFill>
              </a:rPr>
              <a:t>85건</a:t>
            </a:r>
          </a:p>
        </p:txBody>
      </p:sp>
      <p:sp>
        <p:nvSpPr>
          <p:cNvPr id="16" name="evidence-count-label">
            <a:extLst xmlns:a="http://schemas.openxmlformats.org/drawingml/2006/main">
              <a:ext uri="{FF2B5EF4-FFF2-40B4-BE49-F238E27FC236}">
                <a16:creationId xmlns:a16="http://schemas.microsoft.com/office/drawing/2014/main" id="{E2D722EE-F1B0-4771-8BC9-F0E07066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8864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B7280"/>
                </a:solidFill>
              </a:defRPr>
            </a:pPr>
            <a:r>
              <a:rPr sz="1350" b="0" i="0">
                <a:solidFill>
                  <a:srgbClr val="6B7280"/>
                </a:solidFill>
              </a:rPr>
              <a:t>작업별 리뷰</a:t>
            </a:r>
          </a:p>
        </p:txBody>
      </p:sp>
      <p:sp>
        <p:nvSpPr>
          <p:cNvPr id="17" name="runtime-zero-value">
            <a:extLst xmlns:a="http://schemas.openxmlformats.org/drawingml/2006/main">
              <a:ext uri="{FF2B5EF4-FFF2-40B4-BE49-F238E27FC236}">
                <a16:creationId xmlns:a16="http://schemas.microsoft.com/office/drawing/2014/main" id="{F19C168E-47A2-42E7-8ACF-02548A6B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3911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11318"/>
                </a:solidFill>
              </a:defRPr>
            </a:pPr>
            <a:r>
              <a:rPr sz="3000" b="1" i="0">
                <a:solidFill>
                  <a:srgbClr val="111318"/>
                </a:solidFill>
              </a:rPr>
              <a:t>0회</a:t>
            </a:r>
          </a:p>
        </p:txBody>
      </p:sp>
      <p:sp>
        <p:nvSpPr>
          <p:cNvPr id="18" name="runtime-zero-label">
            <a:extLst xmlns:a="http://schemas.openxmlformats.org/drawingml/2006/main">
              <a:ext uri="{FF2B5EF4-FFF2-40B4-BE49-F238E27FC236}">
                <a16:creationId xmlns:a16="http://schemas.microsoft.com/office/drawing/2014/main" id="{9F007077-F319-4AF0-A3C4-A81D2EA3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8864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B7280"/>
                </a:solidFill>
              </a:defRPr>
            </a:pPr>
            <a:r>
              <a:rPr sz="1350" b="0" i="0">
                <a:solidFill>
                  <a:srgbClr val="6B7280"/>
                </a:solidFill>
              </a:rPr>
              <a:t>플레이 중 LLM 호출</a:t>
            </a:r>
          </a:p>
        </p:txBody>
      </p:sp>
      <p:sp>
        <p:nvSpPr>
          <p:cNvPr id="19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E1A8844E-8319-4216-BB22-8F4EEC49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ooter-left-2">
            <a:extLst xmlns:a="http://schemas.openxmlformats.org/drawingml/2006/main">
              <a:ext uri="{FF2B5EF4-FFF2-40B4-BE49-F238E27FC236}">
                <a16:creationId xmlns:a16="http://schemas.microsoft.com/office/drawing/2014/main" id="{82EE54E3-E84C-40A1-8EC6-F2424CFB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A8174"/>
                </a:solidFill>
              </a:defRPr>
            </a:pPr>
            <a:r>
              <a:rPr sz="975" b="0" i="0">
                <a:solidFill>
                  <a:srgbClr val="8A8174"/>
                </a:solidFill>
              </a:rPr>
              <a:t>신들의 저울 · AI 활용 기술</a:t>
            </a:r>
          </a:p>
        </p:txBody>
      </p:sp>
      <p:sp>
        <p:nvSpPr>
          <p:cNvPr id="21" name="footer-right-2">
            <a:extLst xmlns:a="http://schemas.openxmlformats.org/drawingml/2006/main">
              <a:ext uri="{FF2B5EF4-FFF2-40B4-BE49-F238E27FC236}">
                <a16:creationId xmlns:a16="http://schemas.microsoft.com/office/drawing/2014/main" id="{0DAF0BCD-4D9E-423F-8038-B09ECFBD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8177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8A8174"/>
                </a:solidFill>
              </a:defRPr>
            </a:pPr>
            <a:r>
              <a:rPr sz="975" b="0" i="0">
                <a:solidFill>
                  <a:srgbClr val="8A8174"/>
                </a:solidFill>
              </a:rPr>
              <a:t>02 / 12</a:t>
            </a:r>
          </a:p>
        </p:txBody>
      </p:sp>
    </p:spTree>
    <p:extLst>
      <p:ext uri="{BB962C8B-B14F-4D97-AF65-F5344CB8AC3E}">
        <p14:creationId xmlns:p14="http://schemas.microsoft.com/office/powerpoint/2010/main" val="11851453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3">
            <a:extLst xmlns:a="http://schemas.openxmlformats.org/drawingml/2006/main">
              <a:ext uri="{FF2B5EF4-FFF2-40B4-BE49-F238E27FC236}">
                <a16:creationId xmlns:a16="http://schemas.microsoft.com/office/drawing/2014/main" id="{A7485BE4-F77E-40A0-89AF-CC69D1D8B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0C96B"/>
                </a:solidFill>
              </a:defRPr>
            </a:pPr>
            <a:r>
              <a:rPr sz="1200" b="1" i="0">
                <a:solidFill>
                  <a:srgbClr val="F0C96B"/>
                </a:solidFill>
              </a:rPr>
              <a:t>03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BBA351F0-4D79-48FE-A694-525581BC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11318"/>
                </a:solidFill>
              </a:defRPr>
            </a:pPr>
            <a:r>
              <a:rPr sz="3150" b="1" i="0">
                <a:solidFill>
                  <a:srgbClr val="111318"/>
                </a:solidFill>
              </a:rPr>
              <a:t>계획은 사라지고, 검증 기록은 남는다</a:t>
            </a:r>
          </a:p>
        </p:txBody>
      </p:sp>
      <p:sp>
        <p:nvSpPr>
          <p:cNvPr id="3" name="subhead-3">
            <a:extLst xmlns:a="http://schemas.openxmlformats.org/drawingml/2006/main">
              <a:ext uri="{FF2B5EF4-FFF2-40B4-BE49-F238E27FC236}">
                <a16:creationId xmlns:a16="http://schemas.microsoft.com/office/drawing/2014/main" id="{503A41A0-3C99-4379-9959-0003D745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B7280"/>
                </a:solidFill>
              </a:defRPr>
            </a:pPr>
            <a:r>
              <a:rPr sz="1650" b="0" i="0">
                <a:solidFill>
                  <a:srgbClr val="6B7280"/>
                </a:solidFill>
              </a:rPr>
              <a:t>완료 정의를 먼저 적고, 작업이 끝나면 실측 리뷰로 바꾼다.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ab7ce41862402a"/>
          <a:stretch xmlns:a="http://schemas.openxmlformats.org/drawingml/2006/main"/>
        </p:blipFill>
        <p:spPr>
          <a:xfrm xmlns:a="http://schemas.openxmlformats.org/drawingml/2006/main">
            <a:off x="1333500" y="1944461"/>
            <a:ext cx="9525000" cy="2721429"/>
          </a:xfrm>
          <a:prstGeom xmlns:a="http://schemas.openxmlformats.org/drawingml/2006/main" prst="rect">
            <a:avLst/>
          </a:prstGeom>
        </p:spPr>
      </p:pic>
      <p:sp>
        <p:nvSpPr>
          <p:cNvPr id="5" name="workflow-title-0">
            <a:extLst xmlns:a="http://schemas.openxmlformats.org/drawingml/2006/main">
              <a:ext uri="{FF2B5EF4-FFF2-40B4-BE49-F238E27FC236}">
                <a16:creationId xmlns:a16="http://schemas.microsoft.com/office/drawing/2014/main" id="{39168F30-3C49-4C44-9CD8-2FF3A3A3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266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318"/>
                </a:solidFill>
              </a:defRPr>
            </a:pPr>
            <a:r>
              <a:rPr sz="1500" b="1" i="0">
                <a:solidFill>
                  <a:srgbClr val="111318"/>
                </a:solidFill>
              </a:rPr>
              <a:t>PLAN</a:t>
            </a:r>
          </a:p>
        </p:txBody>
      </p:sp>
      <p:sp>
        <p:nvSpPr>
          <p:cNvPr id="6" name="workflow-body-0">
            <a:extLst xmlns:a="http://schemas.openxmlformats.org/drawingml/2006/main">
              <a:ext uri="{FF2B5EF4-FFF2-40B4-BE49-F238E27FC236}">
                <a16:creationId xmlns:a16="http://schemas.microsoft.com/office/drawing/2014/main" id="{A3A846C6-6703-41B3-A9C5-E8D705ED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66700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B1F27"/>
                </a:solidFill>
              </a:defRPr>
            </a:pPr>
            <a:r>
              <a:rPr sz="1500" b="0" i="0">
                <a:solidFill>
                  <a:srgbClr val="1B1F27"/>
                </a:solidFill>
              </a:rPr>
              <a:t>완료 정의 선기록</a:t>
            </a:r>
          </a:p>
        </p:txBody>
      </p:sp>
      <p:sp>
        <p:nvSpPr>
          <p:cNvPr id="7" name="workflow-title-1">
            <a:extLst xmlns:a="http://schemas.openxmlformats.org/drawingml/2006/main">
              <a:ext uri="{FF2B5EF4-FFF2-40B4-BE49-F238E27FC236}">
                <a16:creationId xmlns:a16="http://schemas.microsoft.com/office/drawing/2014/main" id="{DD3F5186-79A4-461E-AEE6-CFD83492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266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318"/>
                </a:solidFill>
              </a:defRPr>
            </a:pPr>
            <a:r>
              <a:rPr sz="1500" b="1" i="0">
                <a:solidFill>
                  <a:srgbClr val="111318"/>
                </a:solidFill>
              </a:rPr>
              <a:t>수행</a:t>
            </a:r>
          </a:p>
        </p:txBody>
      </p:sp>
      <p:sp>
        <p:nvSpPr>
          <p:cNvPr id="8" name="workflow-body-1">
            <a:extLst xmlns:a="http://schemas.openxmlformats.org/drawingml/2006/main">
              <a:ext uri="{FF2B5EF4-FFF2-40B4-BE49-F238E27FC236}">
                <a16:creationId xmlns:a16="http://schemas.microsoft.com/office/drawing/2014/main" id="{15AA36E5-8D9B-4954-BD09-7A085C60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66700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B1F27"/>
                </a:solidFill>
              </a:defRPr>
            </a:pPr>
            <a:r>
              <a:rPr sz="1500" b="0" i="0">
                <a:solidFill>
                  <a:srgbClr val="1B1F27"/>
                </a:solidFill>
              </a:rPr>
              <a:t>게이트·테스트 반려</a:t>
            </a:r>
          </a:p>
        </p:txBody>
      </p:sp>
      <p:sp>
        <p:nvSpPr>
          <p:cNvPr id="9" name="workflow-title-2">
            <a:extLst xmlns:a="http://schemas.openxmlformats.org/drawingml/2006/main">
              <a:ext uri="{FF2B5EF4-FFF2-40B4-BE49-F238E27FC236}">
                <a16:creationId xmlns:a16="http://schemas.microsoft.com/office/drawing/2014/main" id="{BB772A23-31C4-4C26-BD97-CF819D0A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266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318"/>
                </a:solidFill>
              </a:defRPr>
            </a:pPr>
            <a:r>
              <a:rPr sz="1500" b="1" i="0">
                <a:solidFill>
                  <a:srgbClr val="111318"/>
                </a:solidFill>
              </a:rPr>
              <a:t>검토</a:t>
            </a:r>
          </a:p>
        </p:txBody>
      </p:sp>
      <p:sp>
        <p:nvSpPr>
          <p:cNvPr id="10" name="workflow-body-2">
            <a:extLst xmlns:a="http://schemas.openxmlformats.org/drawingml/2006/main">
              <a:ext uri="{FF2B5EF4-FFF2-40B4-BE49-F238E27FC236}">
                <a16:creationId xmlns:a16="http://schemas.microsoft.com/office/drawing/2014/main" id="{21718867-EA3D-4387-A6F1-1441B2EF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66700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B1F27"/>
                </a:solidFill>
              </a:defRPr>
            </a:pPr>
            <a:r>
              <a:rPr sz="1500" b="0" i="0">
                <a:solidFill>
                  <a:srgbClr val="1B1F27"/>
                </a:solidFill>
              </a:rPr>
              <a:t>CodeRabbit 대조</a:t>
            </a:r>
          </a:p>
        </p:txBody>
      </p:sp>
      <p:sp>
        <p:nvSpPr>
          <p:cNvPr id="11" name="workflow-title-3">
            <a:extLst xmlns:a="http://schemas.openxmlformats.org/drawingml/2006/main">
              <a:ext uri="{FF2B5EF4-FFF2-40B4-BE49-F238E27FC236}">
                <a16:creationId xmlns:a16="http://schemas.microsoft.com/office/drawing/2014/main" id="{B3D1244E-9222-4489-9ABB-7AC2BB06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266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318"/>
                </a:solidFill>
              </a:defRPr>
            </a:pPr>
            <a:r>
              <a:rPr sz="1500" b="1" i="0">
                <a:solidFill>
                  <a:srgbClr val="111318"/>
                </a:solidFill>
              </a:rPr>
              <a:t>REVIEW</a:t>
            </a:r>
          </a:p>
        </p:txBody>
      </p:sp>
      <p:sp>
        <p:nvSpPr>
          <p:cNvPr id="12" name="workflow-body-3">
            <a:extLst xmlns:a="http://schemas.openxmlformats.org/drawingml/2006/main">
              <a:ext uri="{FF2B5EF4-FFF2-40B4-BE49-F238E27FC236}">
                <a16:creationId xmlns:a16="http://schemas.microsoft.com/office/drawing/2014/main" id="{AFD96939-9930-4A51-8C6C-8F801A47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66700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B1F27"/>
                </a:solidFill>
              </a:defRPr>
            </a:pPr>
            <a:r>
              <a:rPr sz="1500" b="0" i="0">
                <a:solidFill>
                  <a:srgbClr val="1B1F27"/>
                </a:solidFill>
              </a:rPr>
              <a:t>실측 기록 · plan 삭제</a:t>
            </a:r>
          </a:p>
        </p:txBody>
      </p:sp>
      <p:sp>
        <p:nvSpPr>
          <p:cNvPr id="13" name="workflow-loop-bg">
            <a:extLst xmlns:a="http://schemas.openxmlformats.org/drawingml/2006/main">
              <a:ext uri="{FF2B5EF4-FFF2-40B4-BE49-F238E27FC236}">
                <a16:creationId xmlns:a16="http://schemas.microsoft.com/office/drawing/2014/main" id="{78CDC59F-8CCE-4A86-928E-2234B496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43350"/>
            <a:ext cx="647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workflow-loop">
            <a:extLst xmlns:a="http://schemas.openxmlformats.org/drawingml/2006/main">
              <a:ext uri="{FF2B5EF4-FFF2-40B4-BE49-F238E27FC236}">
                <a16:creationId xmlns:a16="http://schemas.microsoft.com/office/drawing/2014/main" id="{F9813BA0-0134-41AD-8A9D-4FCDA211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리뷰가 다음 계획의 입력이 된다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8856bb3a5a41d5"/>
          <a:srcRect xmlns:a="http://schemas.openxmlformats.org/drawingml/2006/main" l="0" t="26154" r="0" b="261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762500"/>
            <a:ext cx="4953000" cy="1476375"/>
          </a:xfrm>
          <a:prstGeom xmlns:a="http://schemas.openxmlformats.org/drawingml/2006/main" prst="rect">
            <a:avLst/>
          </a:prstGeom>
        </p:spPr>
      </p:pic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b393619363424e"/>
          <a:srcRect xmlns:a="http://schemas.openxmlformats.org/drawingml/2006/main" l="0" t="26154" r="0" b="261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53200" y="4762500"/>
            <a:ext cx="4953000" cy="1476375"/>
          </a:xfrm>
          <a:prstGeom xmlns:a="http://schemas.openxmlformats.org/drawingml/2006/main" prst="rect">
            <a:avLst/>
          </a:prstGeom>
        </p:spPr>
      </p:pic>
      <p:sp>
        <p:nvSpPr>
          <p:cNvPr id="17" name="before-label-bg">
            <a:extLst xmlns:a="http://schemas.openxmlformats.org/drawingml/2006/main">
              <a:ext uri="{FF2B5EF4-FFF2-40B4-BE49-F238E27FC236}">
                <a16:creationId xmlns:a16="http://schemas.microsoft.com/office/drawing/2014/main" id="{B8DA591C-187B-44C7-95F9-C1FDF162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95850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efore-label">
            <a:extLst xmlns:a="http://schemas.openxmlformats.org/drawingml/2006/main">
              <a:ext uri="{FF2B5EF4-FFF2-40B4-BE49-F238E27FC236}">
                <a16:creationId xmlns:a16="http://schemas.microsoft.com/office/drawing/2014/main" id="{30C93BBE-D5B2-4519-8DC6-95B4EA15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8/6 · 에셋 배선</a:t>
            </a:r>
          </a:p>
        </p:txBody>
      </p:sp>
      <p:sp>
        <p:nvSpPr>
          <p:cNvPr id="19" name="after-label-bg">
            <a:extLst xmlns:a="http://schemas.openxmlformats.org/drawingml/2006/main">
              <a:ext uri="{FF2B5EF4-FFF2-40B4-BE49-F238E27FC236}">
                <a16:creationId xmlns:a16="http://schemas.microsoft.com/office/drawing/2014/main" id="{EC17E3F6-20E9-40A6-9AD5-6F3880E3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8958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after-label">
            <a:extLst xmlns:a="http://schemas.openxmlformats.org/drawingml/2006/main">
              <a:ext uri="{FF2B5EF4-FFF2-40B4-BE49-F238E27FC236}">
                <a16:creationId xmlns:a16="http://schemas.microsoft.com/office/drawing/2014/main" id="{B1B9C7D4-87D1-4FE0-B202-7763B3DE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95300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318"/>
                </a:solidFill>
              </a:defRPr>
            </a:pPr>
            <a:r>
              <a:rPr sz="1200" b="1" i="0">
                <a:solidFill>
                  <a:srgbClr val="111318"/>
                </a:solidFill>
              </a:rPr>
              <a:t>8/9 · 41개 plan 이후</a:t>
            </a:r>
          </a:p>
        </p:txBody>
      </p:sp>
      <p:sp>
        <p:nvSpPr>
          <p:cNvPr id="21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BDB43127-55B7-4DD9-8C12-184513C2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ooter-left-3">
            <a:extLst xmlns:a="http://schemas.openxmlformats.org/drawingml/2006/main">
              <a:ext uri="{FF2B5EF4-FFF2-40B4-BE49-F238E27FC236}">
                <a16:creationId xmlns:a16="http://schemas.microsoft.com/office/drawing/2014/main" id="{0548DF02-C220-4BD1-8EA9-9AF2795B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A8174"/>
                </a:solidFill>
              </a:defRPr>
            </a:pPr>
            <a:r>
              <a:rPr sz="975" b="0" i="0">
                <a:solidFill>
                  <a:srgbClr val="8A8174"/>
                </a:solidFill>
              </a:rPr>
              <a:t>신들의 저울 · AI 활용 기술</a:t>
            </a:r>
          </a:p>
        </p:txBody>
      </p:sp>
      <p:sp>
        <p:nvSpPr>
          <p:cNvPr id="23" name="footer-right-3">
            <a:extLst xmlns:a="http://schemas.openxmlformats.org/drawingml/2006/main">
              <a:ext uri="{FF2B5EF4-FFF2-40B4-BE49-F238E27FC236}">
                <a16:creationId xmlns:a16="http://schemas.microsoft.com/office/drawing/2014/main" id="{D822A7A4-FE54-4F62-B6CF-05332C78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8177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8A8174"/>
                </a:solidFill>
              </a:defRPr>
            </a:pPr>
            <a:r>
              <a:rPr sz="975" b="0" i="0">
                <a:solidFill>
                  <a:srgbClr val="8A8174"/>
                </a:solidFill>
              </a:rPr>
              <a:t>03 / 12</a:t>
            </a:r>
          </a:p>
        </p:txBody>
      </p:sp>
    </p:spTree>
    <p:extLst>
      <p:ext uri="{BB962C8B-B14F-4D97-AF65-F5344CB8AC3E}">
        <p14:creationId xmlns:p14="http://schemas.microsoft.com/office/powerpoint/2010/main" val="10790149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-4">
            <a:extLst xmlns:a="http://schemas.openxmlformats.org/drawingml/2006/main">
              <a:ext uri="{FF2B5EF4-FFF2-40B4-BE49-F238E27FC236}">
                <a16:creationId xmlns:a16="http://schemas.microsoft.com/office/drawing/2014/main" id="{41869E78-8887-4624-AE65-68384E5B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0C96B"/>
                </a:solidFill>
              </a:defRPr>
            </a:pPr>
            <a:r>
              <a:rPr sz="1200" b="1" i="0">
                <a:solidFill>
                  <a:srgbClr val="F0C96B"/>
                </a:solidFill>
              </a:rPr>
              <a:t>04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3FF3F631-BCBD-44D7-86EA-CD9AA4CC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11318"/>
                </a:solidFill>
              </a:defRPr>
            </a:pPr>
            <a:r>
              <a:rPr sz="3150" b="1" i="0">
                <a:solidFill>
                  <a:srgbClr val="111318"/>
                </a:solidFill>
              </a:rPr>
              <a:t>긴 지시 대신, 여섯 줄 헌법과 두 개의 규범을 뒀다</a:t>
            </a:r>
          </a:p>
        </p:txBody>
      </p:sp>
      <p:sp>
        <p:nvSpPr>
          <p:cNvPr id="3" name="subhead-4">
            <a:extLst xmlns:a="http://schemas.openxmlformats.org/drawingml/2006/main">
              <a:ext uri="{FF2B5EF4-FFF2-40B4-BE49-F238E27FC236}">
                <a16:creationId xmlns:a16="http://schemas.microsoft.com/office/drawing/2014/main" id="{B61B4F8D-C623-469F-83E8-B52E8EF9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B7280"/>
                </a:solidFill>
              </a:defRPr>
            </a:pPr>
            <a:r>
              <a:rPr sz="1650" b="0" i="0">
                <a:solidFill>
                  <a:srgbClr val="6B7280"/>
                </a:solidFill>
              </a:rPr>
              <a:t>상시 지시는 짧게, 도메인 규칙은 해당 작업에서만 읽힌다.</a:t>
            </a:r>
          </a:p>
        </p:txBody>
      </p:sp>
      <p:sp>
        <p:nvSpPr>
          <p:cNvPr id="4" name="rules-big-six">
            <a:extLst xmlns:a="http://schemas.openxmlformats.org/drawingml/2006/main">
              <a:ext uri="{FF2B5EF4-FFF2-40B4-BE49-F238E27FC236}">
                <a16:creationId xmlns:a16="http://schemas.microsoft.com/office/drawing/2014/main" id="{A0346583-8446-43F1-8147-B21C756F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200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0" b="1" i="0">
                <a:solidFill>
                  <a:srgbClr val="D59B2D"/>
                </a:solidFill>
              </a:defRPr>
            </a:pPr>
            <a:r>
              <a:rPr sz="9900" b="1" i="0">
                <a:solidFill>
                  <a:srgbClr val="D59B2D"/>
                </a:solidFill>
              </a:rPr>
              <a:t>6</a:t>
            </a:r>
          </a:p>
        </p:txBody>
      </p:sp>
      <p:sp>
        <p:nvSpPr>
          <p:cNvPr id="5" name="rules-six-label">
            <a:extLst xmlns:a="http://schemas.openxmlformats.org/drawingml/2006/main">
              <a:ext uri="{FF2B5EF4-FFF2-40B4-BE49-F238E27FC236}">
                <a16:creationId xmlns:a16="http://schemas.microsoft.com/office/drawing/2014/main" id="{8D94AB0D-6C0E-457C-8215-C0E0A41A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318"/>
                </a:solidFill>
              </a:defRPr>
            </a:pPr>
            <a:r>
              <a:rPr sz="2100" b="1" i="0">
                <a:solidFill>
                  <a:srgbClr val="111318"/>
                </a:solidFill>
              </a:rPr>
              <a:t>줄짜리 헌법</a:t>
            </a:r>
          </a:p>
        </p:txBody>
      </p:sp>
      <p:sp>
        <p:nvSpPr>
          <p:cNvPr id="6" name="rules-six-body">
            <a:extLst xmlns:a="http://schemas.openxmlformats.org/drawingml/2006/main">
              <a:ext uri="{FF2B5EF4-FFF2-40B4-BE49-F238E27FC236}">
                <a16:creationId xmlns:a16="http://schemas.microsoft.com/office/drawing/2014/main" id="{AC5B9238-8FE1-4F9B-8844-4471D9B0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48125"/>
            <a:ext cx="3429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B1F27"/>
                </a:solidFill>
              </a:defRPr>
            </a:pPr>
            <a:r>
              <a:rPr sz="1650" b="0" i="0">
                <a:solidFill>
                  <a:srgbClr val="1B1F27"/>
                </a:solidFill>
              </a:rPr>
              <a:t>권한 · 작업 생명주기</a:t>
            </a:r>
          </a:p>
          <a:p xmlns:a="http://schemas.openxmlformats.org/drawingml/2006/main">
            <a:pPr algn="l">
              <a:defRPr sz="1650" b="0" i="0">
                <a:solidFill>
                  <a:srgbClr val="1B1F27"/>
                </a:solidFill>
              </a:defRPr>
            </a:pPr>
            <a:r>
              <a:rPr sz="1650" b="0" i="0">
                <a:solidFill>
                  <a:srgbClr val="1B1F27"/>
                </a:solidFill>
              </a:rPr>
              <a:t>밸런스 게이트 · 브라우저 도구</a:t>
            </a:r>
          </a:p>
          <a:p xmlns:a="http://schemas.openxmlformats.org/drawingml/2006/main">
            <a:pPr algn="l">
              <a:defRPr sz="1650" b="0" i="0">
                <a:solidFill>
                  <a:srgbClr val="1B1F27"/>
                </a:solidFill>
              </a:defRPr>
            </a:pPr>
            <a:r>
              <a:rPr sz="1650" b="0" i="0">
                <a:solidFill>
                  <a:srgbClr val="1B1F27"/>
                </a:solidFill>
              </a:rPr>
              <a:t>문체 · UI 규범의 진입 조건</a:t>
            </a:r>
          </a:p>
        </p:txBody>
      </p:sp>
      <p:sp>
        <p:nvSpPr>
          <p:cNvPr id="7" name="rules-divider">
            <a:extLst xmlns:a="http://schemas.openxmlformats.org/drawingml/2006/main">
              <a:ext uri="{FF2B5EF4-FFF2-40B4-BE49-F238E27FC236}">
                <a16:creationId xmlns:a16="http://schemas.microsoft.com/office/drawing/2014/main" id="{2E2EAFDD-8A3C-47EC-ACC7-3090D76D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38350"/>
            <a:ext cx="190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writing-file">
            <a:extLst xmlns:a="http://schemas.openxmlformats.org/drawingml/2006/main">
              <a:ext uri="{FF2B5EF4-FFF2-40B4-BE49-F238E27FC236}">
                <a16:creationId xmlns:a16="http://schemas.microsoft.com/office/drawing/2014/main" id="{EEFA4A7E-D638-46B4-A8DC-E516D313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717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318"/>
                </a:solidFill>
              </a:defRPr>
            </a:pPr>
            <a:r>
              <a:rPr sz="1800" b="1" i="0">
                <a:solidFill>
                  <a:srgbClr val="111318"/>
                </a:solidFill>
              </a:rPr>
              <a:t>WRITING.md</a:t>
            </a:r>
          </a:p>
        </p:txBody>
      </p:sp>
      <p:sp>
        <p:nvSpPr>
          <p:cNvPr id="9" name="writing-rule">
            <a:extLst xmlns:a="http://schemas.openxmlformats.org/drawingml/2006/main">
              <a:ext uri="{FF2B5EF4-FFF2-40B4-BE49-F238E27FC236}">
                <a16:creationId xmlns:a16="http://schemas.microsoft.com/office/drawing/2014/main" id="{B36BCAB2-D371-411F-BC8B-BCAC309E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4795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318"/>
                </a:solidFill>
              </a:defRPr>
            </a:pPr>
            <a:r>
              <a:rPr sz="1875" b="1" i="0">
                <a:solidFill>
                  <a:srgbClr val="111318"/>
                </a:solidFill>
              </a:rPr>
              <a:t>신별 목소리를 종결어미 단위로 잠근다</a:t>
            </a:r>
          </a:p>
        </p:txBody>
      </p:sp>
      <p:sp>
        <p:nvSpPr>
          <p:cNvPr id="10" name="writing-proof">
            <a:extLst xmlns:a="http://schemas.openxmlformats.org/drawingml/2006/main">
              <a:ext uri="{FF2B5EF4-FFF2-40B4-BE49-F238E27FC236}">
                <a16:creationId xmlns:a16="http://schemas.microsoft.com/office/drawing/2014/main" id="{A136CB2B-0962-44C2-AA1B-523CF78C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86100"/>
            <a:ext cx="609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6B7280"/>
                </a:solidFill>
              </a:defRPr>
            </a:pPr>
            <a:r>
              <a:rPr sz="1575" b="0" i="0">
                <a:solidFill>
                  <a:srgbClr val="6B7280"/>
                </a:solidFill>
              </a:rPr>
              <a:t>이름을 지워도 말투만으로 신을 구분할 수 있어야 한다.</a:t>
            </a:r>
          </a:p>
        </p:txBody>
      </p:sp>
      <p:sp>
        <p:nvSpPr>
          <p:cNvPr id="11" name="rules-mid">
            <a:extLst xmlns:a="http://schemas.openxmlformats.org/drawingml/2006/main">
              <a:ext uri="{FF2B5EF4-FFF2-40B4-BE49-F238E27FC236}">
                <a16:creationId xmlns:a16="http://schemas.microsoft.com/office/drawing/2014/main" id="{60B248A8-A70E-4A08-A035-B24F7A7B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52850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ui-file">
            <a:extLst xmlns:a="http://schemas.openxmlformats.org/drawingml/2006/main">
              <a:ext uri="{FF2B5EF4-FFF2-40B4-BE49-F238E27FC236}">
                <a16:creationId xmlns:a16="http://schemas.microsoft.com/office/drawing/2014/main" id="{BB400B78-D00A-4319-86C8-6178E4D5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386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318"/>
                </a:solidFill>
              </a:defRPr>
            </a:pPr>
            <a:r>
              <a:rPr sz="1800" b="1" i="0">
                <a:solidFill>
                  <a:srgbClr val="111318"/>
                </a:solidFill>
              </a:rPr>
              <a:t>UI.md</a:t>
            </a:r>
          </a:p>
        </p:txBody>
      </p:sp>
      <p:sp>
        <p:nvSpPr>
          <p:cNvPr id="13" name="ui-rule">
            <a:extLst xmlns:a="http://schemas.openxmlformats.org/drawingml/2006/main">
              <a:ext uri="{FF2B5EF4-FFF2-40B4-BE49-F238E27FC236}">
                <a16:creationId xmlns:a16="http://schemas.microsoft.com/office/drawing/2014/main" id="{B80EFC6A-B18A-48FC-B010-785F53B9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1485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318"/>
                </a:solidFill>
              </a:defRPr>
            </a:pPr>
            <a:r>
              <a:rPr sz="1875" b="1" i="0">
                <a:solidFill>
                  <a:srgbClr val="111318"/>
                </a:solidFill>
              </a:rPr>
              <a:t>레이아웃은 움직이지 않는다</a:t>
            </a:r>
          </a:p>
        </p:txBody>
      </p:sp>
      <p:sp>
        <p:nvSpPr>
          <p:cNvPr id="14" name="ui-proof">
            <a:extLst xmlns:a="http://schemas.openxmlformats.org/drawingml/2006/main">
              <a:ext uri="{FF2B5EF4-FFF2-40B4-BE49-F238E27FC236}">
                <a16:creationId xmlns:a16="http://schemas.microsoft.com/office/drawing/2014/main" id="{B81D2DAF-CA23-4C83-8B0F-FA81CD59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53000"/>
            <a:ext cx="609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6B7280"/>
                </a:solidFill>
              </a:defRPr>
            </a:pPr>
            <a:r>
              <a:rPr sz="1575" b="0" i="0">
                <a:solidFill>
                  <a:srgbClr val="6B7280"/>
                </a:solidFill>
              </a:rPr>
              <a:t>조건부 요소는 자리를 남기고, 애니메이션은 transform과 opacity만 쓴다.</a:t>
            </a:r>
          </a:p>
        </p:txBody>
      </p:sp>
      <p:sp>
        <p:nvSpPr>
          <p:cNvPr id="15" name="rules-bottom">
            <a:extLst xmlns:a="http://schemas.openxmlformats.org/drawingml/2006/main">
              <a:ext uri="{FF2B5EF4-FFF2-40B4-BE49-F238E27FC236}">
                <a16:creationId xmlns:a16="http://schemas.microsoft.com/office/drawing/2014/main" id="{EDF61C71-5639-4038-A35C-48826D37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ules-bottom-text">
            <a:extLst xmlns:a="http://schemas.openxmlformats.org/drawingml/2006/main">
              <a:ext uri="{FF2B5EF4-FFF2-40B4-BE49-F238E27FC236}">
                <a16:creationId xmlns:a16="http://schemas.microsoft.com/office/drawing/2014/main" id="{5CCD9E43-A64B-4F90-8B77-6205E51C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91502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도구를 늘리는 대신, 검증 게이트를 늘렸다</a:t>
            </a:r>
          </a:p>
        </p:txBody>
      </p:sp>
      <p:sp>
        <p:nvSpPr>
          <p:cNvPr id="17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39789909-BEE7-425F-B347-13531310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-4">
            <a:extLst xmlns:a="http://schemas.openxmlformats.org/drawingml/2006/main">
              <a:ext uri="{FF2B5EF4-FFF2-40B4-BE49-F238E27FC236}">
                <a16:creationId xmlns:a16="http://schemas.microsoft.com/office/drawing/2014/main" id="{D3DBD168-1153-4E13-B8A8-997A7E78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A8174"/>
                </a:solidFill>
              </a:defRPr>
            </a:pPr>
            <a:r>
              <a:rPr sz="975" b="0" i="0">
                <a:solidFill>
                  <a:srgbClr val="8A8174"/>
                </a:solidFill>
              </a:rPr>
              <a:t>신들의 저울 · AI 활용 기술</a:t>
            </a:r>
          </a:p>
        </p:txBody>
      </p:sp>
      <p:sp>
        <p:nvSpPr>
          <p:cNvPr id="19" name="footer-right-4">
            <a:extLst xmlns:a="http://schemas.openxmlformats.org/drawingml/2006/main">
              <a:ext uri="{FF2B5EF4-FFF2-40B4-BE49-F238E27FC236}">
                <a16:creationId xmlns:a16="http://schemas.microsoft.com/office/drawing/2014/main" id="{0F4EDF78-F428-4031-B708-D64005B3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8177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8A8174"/>
                </a:solidFill>
              </a:defRPr>
            </a:pPr>
            <a:r>
              <a:rPr sz="975" b="0" i="0">
                <a:solidFill>
                  <a:srgbClr val="8A8174"/>
                </a:solidFill>
              </a:rPr>
              <a:t>04 / 12</a:t>
            </a:r>
          </a:p>
        </p:txBody>
      </p:sp>
    </p:spTree>
    <p:extLst>
      <p:ext uri="{BB962C8B-B14F-4D97-AF65-F5344CB8AC3E}">
        <p14:creationId xmlns:p14="http://schemas.microsoft.com/office/powerpoint/2010/main" val="10049624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-5">
            <a:extLst xmlns:a="http://schemas.openxmlformats.org/drawingml/2006/main">
              <a:ext uri="{FF2B5EF4-FFF2-40B4-BE49-F238E27FC236}">
                <a16:creationId xmlns:a16="http://schemas.microsoft.com/office/drawing/2014/main" id="{A8918A51-8B1D-41F7-91BD-FFCA0153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0C96B"/>
                </a:solidFill>
              </a:defRPr>
            </a:pPr>
            <a:r>
              <a:rPr sz="1200" b="1" i="0">
                <a:solidFill>
                  <a:srgbClr val="F0C96B"/>
                </a:solidFill>
              </a:rPr>
              <a:t>05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AC34D0F0-138C-41B1-B1F4-852D22DA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11318"/>
                </a:solidFill>
              </a:defRPr>
            </a:pPr>
            <a:r>
              <a:rPr sz="3150" b="1" i="0">
                <a:solidFill>
                  <a:srgbClr val="111318"/>
                </a:solidFill>
              </a:rPr>
              <a:t>작성 AI와 검토 AI를 분리하니 기록의 오류까지 잡혔다</a:t>
            </a:r>
          </a:p>
        </p:txBody>
      </p:sp>
      <p:sp>
        <p:nvSpPr>
          <p:cNvPr id="3" name="subhead-5">
            <a:extLst xmlns:a="http://schemas.openxmlformats.org/drawingml/2006/main">
              <a:ext uri="{FF2B5EF4-FFF2-40B4-BE49-F238E27FC236}">
                <a16:creationId xmlns:a16="http://schemas.microsoft.com/office/drawing/2014/main" id="{108AB2F2-8F6B-46F2-B82A-04FCC1D8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B7280"/>
                </a:solidFill>
              </a:defRPr>
            </a:pPr>
            <a:r>
              <a:rPr sz="1650" b="0" i="0">
                <a:solidFill>
                  <a:srgbClr val="6B7280"/>
                </a:solidFill>
              </a:rPr>
              <a:t>검토 대상은 코드뿐 아니라, AI가 남긴 측정값과 설명까지 포함했다.</a:t>
            </a:r>
          </a:p>
        </p:txBody>
      </p:sp>
      <p:sp>
        <p:nvSpPr>
          <p:cNvPr id="4" name="review-findings-value">
            <a:extLst xmlns:a="http://schemas.openxmlformats.org/drawingml/2006/main">
              <a:ext uri="{FF2B5EF4-FFF2-40B4-BE49-F238E27FC236}">
                <a16:creationId xmlns:a16="http://schemas.microsoft.com/office/drawing/2014/main" id="{03907689-E35D-415E-928C-5D1BDCFB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11318"/>
                </a:solidFill>
              </a:defRPr>
            </a:pPr>
            <a:r>
              <a:rPr sz="3000" b="1" i="0">
                <a:solidFill>
                  <a:srgbClr val="111318"/>
                </a:solidFill>
              </a:rPr>
              <a:t>125건</a:t>
            </a:r>
          </a:p>
        </p:txBody>
      </p:sp>
      <p:sp>
        <p:nvSpPr>
          <p:cNvPr id="5" name="review-findings-label">
            <a:extLst xmlns:a="http://schemas.openxmlformats.org/drawingml/2006/main">
              <a:ext uri="{FF2B5EF4-FFF2-40B4-BE49-F238E27FC236}">
                <a16:creationId xmlns:a16="http://schemas.microsoft.com/office/drawing/2014/main" id="{3AC30D4F-D000-41F7-9391-F028701E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B7280"/>
                </a:solidFill>
              </a:defRPr>
            </a:pPr>
            <a:r>
              <a:rPr sz="1350" b="0" i="0">
                <a:solidFill>
                  <a:srgbClr val="6B7280"/>
                </a:solidFill>
              </a:rPr>
              <a:t>PR 14개에서 나온 인라인 지적</a:t>
            </a:r>
          </a:p>
        </p:txBody>
      </p:sp>
      <p:sp>
        <p:nvSpPr>
          <p:cNvPr id="6" name="review-loop">
            <a:extLst xmlns:a="http://schemas.openxmlformats.org/drawingml/2006/main">
              <a:ext uri="{FF2B5EF4-FFF2-40B4-BE49-F238E27FC236}">
                <a16:creationId xmlns:a16="http://schemas.microsoft.com/office/drawing/2014/main" id="{B021299A-FF4A-43A0-8FB6-FBC4BB2D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86125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111318"/>
                </a:solidFill>
              </a:defRPr>
            </a:pPr>
            <a:r>
              <a:rPr sz="2400" b="1" i="0">
                <a:solidFill>
                  <a:srgbClr val="111318"/>
                </a:solidFill>
              </a:rPr>
              <a:t>작성 AI</a:t>
            </a:r>
          </a:p>
          <a:p xmlns:a="http://schemas.openxmlformats.org/drawingml/2006/main">
            <a:pPr algn="ctr">
              <a:defRPr sz="2400" b="1" i="0">
                <a:solidFill>
                  <a:srgbClr val="111318"/>
                </a:solidFill>
              </a:defRPr>
            </a:pPr>
            <a:r>
              <a:rPr sz="2400" b="1" i="0">
                <a:solidFill>
                  <a:srgbClr val="111318"/>
                </a:solidFill>
              </a:rPr>
              <a:t>↕</a:t>
            </a:r>
          </a:p>
          <a:p xmlns:a="http://schemas.openxmlformats.org/drawingml/2006/main">
            <a:pPr algn="ctr">
              <a:defRPr sz="2400" b="1" i="0">
                <a:solidFill>
                  <a:srgbClr val="111318"/>
                </a:solidFill>
              </a:defRPr>
            </a:pPr>
            <a:r>
              <a:rPr sz="2400" b="1" i="0">
                <a:solidFill>
                  <a:srgbClr val="111318"/>
                </a:solidFill>
              </a:rPr>
              <a:t>검토 AI</a:t>
            </a:r>
          </a:p>
        </p:txBody>
      </p:sp>
      <p:sp>
        <p:nvSpPr>
          <p:cNvPr id="7" name="review-loop-note">
            <a:extLst xmlns:a="http://schemas.openxmlformats.org/drawingml/2006/main">
              <a:ext uri="{FF2B5EF4-FFF2-40B4-BE49-F238E27FC236}">
                <a16:creationId xmlns:a16="http://schemas.microsoft.com/office/drawing/2014/main" id="{6B91206E-FEAC-4E95-83A0-AFF6DECD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6B7280"/>
                </a:solidFill>
              </a:defRPr>
            </a:pPr>
            <a:r>
              <a:rPr sz="1500" b="0" i="0">
                <a:solidFill>
                  <a:srgbClr val="6B7280"/>
                </a:solidFill>
              </a:rPr>
              <a:t>서로 다른 모델이</a:t>
            </a:r>
          </a:p>
          <a:p xmlns:a="http://schemas.openxmlformats.org/drawingml/2006/main">
            <a:pPr algn="ctr">
              <a:defRPr sz="1500" b="0" i="0">
                <a:solidFill>
                  <a:srgbClr val="6B7280"/>
                </a:solidFill>
              </a:defRPr>
            </a:pPr>
            <a:r>
              <a:rPr sz="1500" b="0" i="0">
                <a:solidFill>
                  <a:srgbClr val="6B7280"/>
                </a:solidFill>
              </a:rPr>
              <a:t>코드와 기록을 대조</a:t>
            </a:r>
          </a:p>
        </p:txBody>
      </p:sp>
      <p:sp>
        <p:nvSpPr>
          <p:cNvPr id="8" name="review-divider">
            <a:extLst xmlns:a="http://schemas.openxmlformats.org/drawingml/2006/main">
              <a:ext uri="{FF2B5EF4-FFF2-40B4-BE49-F238E27FC236}">
                <a16:creationId xmlns:a16="http://schemas.microsoft.com/office/drawing/2014/main" id="{5F40ABFF-AC91-45B9-B256-C727E98F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33600"/>
            <a:ext cx="190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view-case1-kicker">
            <a:extLst xmlns:a="http://schemas.openxmlformats.org/drawingml/2006/main">
              <a:ext uri="{FF2B5EF4-FFF2-40B4-BE49-F238E27FC236}">
                <a16:creationId xmlns:a16="http://schemas.microsoft.com/office/drawing/2014/main" id="{1D6D4D4E-9223-4ADB-BF16-4039C2BA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098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C85D4A"/>
                </a:solidFill>
              </a:defRPr>
            </a:pPr>
            <a:r>
              <a:rPr sz="1275" b="1" i="0">
                <a:solidFill>
                  <a:srgbClr val="C85D4A"/>
                </a:solidFill>
              </a:rPr>
              <a:t>CASE 01 · 번들 상한</a:t>
            </a:r>
          </a:p>
        </p:txBody>
      </p:sp>
      <p:sp>
        <p:nvSpPr>
          <p:cNvPr id="10" name="review-case1-title">
            <a:extLst xmlns:a="http://schemas.openxmlformats.org/drawingml/2006/main">
              <a:ext uri="{FF2B5EF4-FFF2-40B4-BE49-F238E27FC236}">
                <a16:creationId xmlns:a16="http://schemas.microsoft.com/office/drawing/2014/main" id="{32EACE8D-E2A9-4FB9-B30F-DBFE6AF7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0985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11318"/>
                </a:solidFill>
              </a:defRPr>
            </a:pPr>
            <a:r>
              <a:rPr sz="1950" b="1" i="0">
                <a:solidFill>
                  <a:srgbClr val="111318"/>
                </a:solidFill>
              </a:rPr>
              <a:t>4.42MiB를 ‘기존 문제’로 넘기려던 기록을 반려</a:t>
            </a:r>
          </a:p>
        </p:txBody>
      </p:sp>
      <p:sp>
        <p:nvSpPr>
          <p:cNvPr id="11" name="review-case1-body">
            <a:extLst xmlns:a="http://schemas.openxmlformats.org/drawingml/2006/main">
              <a:ext uri="{FF2B5EF4-FFF2-40B4-BE49-F238E27FC236}">
                <a16:creationId xmlns:a16="http://schemas.microsoft.com/office/drawing/2014/main" id="{7E83F6B8-EBA3-4F10-8CDA-8E084687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95650"/>
            <a:ext cx="619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6B7280"/>
                </a:solidFill>
              </a:defRPr>
            </a:pPr>
            <a:r>
              <a:rPr sz="1575" b="0" i="0">
                <a:solidFill>
                  <a:srgbClr val="6B7280"/>
                </a:solidFill>
              </a:rPr>
              <a:t>재측정 결과 첫 화면 988KiB였다. 문제를 숨기지 않고, 잘못 잰 기준을 근거와 함께 고쳤다.</a:t>
            </a:r>
          </a:p>
        </p:txBody>
      </p:sp>
      <p:sp>
        <p:nvSpPr>
          <p:cNvPr id="12" name="review-case-rule">
            <a:extLst xmlns:a="http://schemas.openxmlformats.org/drawingml/2006/main">
              <a:ext uri="{FF2B5EF4-FFF2-40B4-BE49-F238E27FC236}">
                <a16:creationId xmlns:a16="http://schemas.microsoft.com/office/drawing/2014/main" id="{78D90EAD-C1A1-4942-A545-3A80349F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719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view-case2-kicker">
            <a:extLst xmlns:a="http://schemas.openxmlformats.org/drawingml/2006/main">
              <a:ext uri="{FF2B5EF4-FFF2-40B4-BE49-F238E27FC236}">
                <a16:creationId xmlns:a16="http://schemas.microsoft.com/office/drawing/2014/main" id="{E205D466-0E57-4F6F-B6D7-7332447F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386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C85D4A"/>
                </a:solidFill>
              </a:defRPr>
            </a:pPr>
            <a:r>
              <a:rPr sz="1275" b="1" i="0">
                <a:solidFill>
                  <a:srgbClr val="C85D4A"/>
                </a:solidFill>
              </a:rPr>
              <a:t>CASE 02 · 문서 수치</a:t>
            </a:r>
          </a:p>
        </p:txBody>
      </p:sp>
      <p:sp>
        <p:nvSpPr>
          <p:cNvPr id="14" name="review-case2-title">
            <a:extLst xmlns:a="http://schemas.openxmlformats.org/drawingml/2006/main">
              <a:ext uri="{FF2B5EF4-FFF2-40B4-BE49-F238E27FC236}">
                <a16:creationId xmlns:a16="http://schemas.microsoft.com/office/drawing/2014/main" id="{06E3BC32-99EF-4588-9BF2-123B6AC3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3870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11318"/>
                </a:solidFill>
              </a:defRPr>
            </a:pPr>
            <a:r>
              <a:rPr sz="1950" b="1" i="0">
                <a:solidFill>
                  <a:srgbClr val="111318"/>
                </a:solidFill>
              </a:rPr>
              <a:t>리뷰의 ‘병사 192px’가 실제 CSS 224px와 충돌</a:t>
            </a:r>
          </a:p>
        </p:txBody>
      </p:sp>
      <p:sp>
        <p:nvSpPr>
          <p:cNvPr id="15" name="review-case2-body">
            <a:extLst xmlns:a="http://schemas.openxmlformats.org/drawingml/2006/main">
              <a:ext uri="{FF2B5EF4-FFF2-40B4-BE49-F238E27FC236}">
                <a16:creationId xmlns:a16="http://schemas.microsoft.com/office/drawing/2014/main" id="{258F1A0A-DBDA-4EC3-8C2C-4BF9E282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52450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6B7280"/>
                </a:solidFill>
              </a:defRPr>
            </a:pPr>
            <a:r>
              <a:rPr sz="1575" b="0" i="0">
                <a:solidFill>
                  <a:srgbClr val="6B7280"/>
                </a:solidFill>
              </a:rPr>
              <a:t>AI가 쓴 기록과 AI가 쓴 코드를 서로 검증했다.</a:t>
            </a:r>
          </a:p>
        </p:txBody>
      </p:sp>
      <p:sp>
        <p:nvSpPr>
          <p:cNvPr id="16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4E97BB95-CB26-4284-ADF6-0E44284E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-5">
            <a:extLst xmlns:a="http://schemas.openxmlformats.org/drawingml/2006/main">
              <a:ext uri="{FF2B5EF4-FFF2-40B4-BE49-F238E27FC236}">
                <a16:creationId xmlns:a16="http://schemas.microsoft.com/office/drawing/2014/main" id="{58258356-C3C5-4124-BBC7-77C9C2D2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A8174"/>
                </a:solidFill>
              </a:defRPr>
            </a:pPr>
            <a:r>
              <a:rPr sz="975" b="0" i="0">
                <a:solidFill>
                  <a:srgbClr val="8A8174"/>
                </a:solidFill>
              </a:rPr>
              <a:t>신들의 저울 · AI 활용 기술</a:t>
            </a:r>
          </a:p>
        </p:txBody>
      </p:sp>
      <p:sp>
        <p:nvSpPr>
          <p:cNvPr id="18" name="footer-right-5">
            <a:extLst xmlns:a="http://schemas.openxmlformats.org/drawingml/2006/main">
              <a:ext uri="{FF2B5EF4-FFF2-40B4-BE49-F238E27FC236}">
                <a16:creationId xmlns:a16="http://schemas.microsoft.com/office/drawing/2014/main" id="{84251DAE-AB25-4404-B524-CF01ED29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8177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8A8174"/>
                </a:solidFill>
              </a:defRPr>
            </a:pPr>
            <a:r>
              <a:rPr sz="975" b="0" i="0">
                <a:solidFill>
                  <a:srgbClr val="8A8174"/>
                </a:solidFill>
              </a:rPr>
              <a:t>05 / 12</a:t>
            </a:r>
          </a:p>
        </p:txBody>
      </p:sp>
    </p:spTree>
    <p:extLst>
      <p:ext uri="{BB962C8B-B14F-4D97-AF65-F5344CB8AC3E}">
        <p14:creationId xmlns:p14="http://schemas.microsoft.com/office/powerpoint/2010/main" val="4236325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ection-6">
            <a:extLst xmlns:a="http://schemas.openxmlformats.org/drawingml/2006/main">
              <a:ext uri="{FF2B5EF4-FFF2-40B4-BE49-F238E27FC236}">
                <a16:creationId xmlns:a16="http://schemas.microsoft.com/office/drawing/2014/main" id="{2F565609-48E1-4D6B-BDF6-814F64D3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0C96B"/>
                </a:solidFill>
              </a:defRPr>
            </a:pPr>
            <a:r>
              <a:rPr sz="1200" b="1" i="0">
                <a:solidFill>
                  <a:srgbClr val="F0C96B"/>
                </a:solidFill>
              </a:rPr>
              <a:t>06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127AC812-749B-4095-A942-6B4902F7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11318"/>
                </a:solidFill>
              </a:defRPr>
            </a:pPr>
            <a:r>
              <a:rPr sz="3150" b="1" i="0">
                <a:solidFill>
                  <a:srgbClr val="111318"/>
                </a:solidFill>
              </a:rPr>
              <a:t>179장의 카드는 아홉 종류의 반려를 통과해야 들어갔다</a:t>
            </a:r>
          </a:p>
        </p:txBody>
      </p:sp>
      <p:sp>
        <p:nvSpPr>
          <p:cNvPr id="3" name="subhead-6">
            <a:extLst xmlns:a="http://schemas.openxmlformats.org/drawingml/2006/main">
              <a:ext uri="{FF2B5EF4-FFF2-40B4-BE49-F238E27FC236}">
                <a16:creationId xmlns:a16="http://schemas.microsoft.com/office/drawing/2014/main" id="{62700B9D-118F-4E24-9D76-6A816CC8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B7280"/>
                </a:solidFill>
              </a:defRPr>
            </a:pPr>
            <a:r>
              <a:rPr sz="1650" b="0" i="0">
                <a:solidFill>
                  <a:srgbClr val="6B7280"/>
                </a:solidFill>
              </a:rPr>
              <a:t>프롬프트는 버전으로 관리하고, 실패 사유는 다음 생성의 입력으로 돌렸다.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288dd734284acd"/>
          <a:stretch xmlns:a="http://schemas.openxmlformats.org/drawingml/2006/main"/>
        </p:blipFill>
        <p:spPr>
          <a:xfrm xmlns:a="http://schemas.openxmlformats.org/drawingml/2006/main">
            <a:off x="666750" y="1885950"/>
            <a:ext cx="4810125" cy="4810125"/>
          </a:xfrm>
          <a:prstGeom xmlns:a="http://schemas.openxmlformats.org/drawingml/2006/main" prst="rect">
            <a:avLst/>
          </a:prstGeom>
        </p:spPr>
      </p:pic>
      <p:sp>
        <p:nvSpPr>
          <p:cNvPr id="5" name="content-stage-0">
            <a:extLst xmlns:a="http://schemas.openxmlformats.org/drawingml/2006/main">
              <a:ext uri="{FF2B5EF4-FFF2-40B4-BE49-F238E27FC236}">
                <a16:creationId xmlns:a16="http://schemas.microsoft.com/office/drawing/2014/main" id="{A4F47655-0744-4011-81A9-CD070573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95500"/>
            <a:ext cx="1028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318"/>
                </a:solidFill>
              </a:defRPr>
            </a:pPr>
            <a:r>
              <a:rPr sz="1275" b="1" i="0">
                <a:solidFill>
                  <a:srgbClr val="111318"/>
                </a:solidFill>
              </a:rPr>
              <a:t>PROMPTS</a:t>
            </a:r>
          </a:p>
          <a:p xmlns:a="http://schemas.openxmlformats.org/drawingml/2006/main">
            <a:pPr algn="ctr">
              <a:defRPr sz="1275" b="1" i="0">
                <a:solidFill>
                  <a:srgbClr val="111318"/>
                </a:solidFill>
              </a:defRPr>
            </a:pPr>
            <a:r>
              <a:rPr sz="1275" b="1" i="0">
                <a:solidFill>
                  <a:srgbClr val="111318"/>
                </a:solidFill>
              </a:rPr>
              <a:t>13종</a:t>
            </a:r>
          </a:p>
        </p:txBody>
      </p:sp>
      <p:sp>
        <p:nvSpPr>
          <p:cNvPr id="6" name="content-stage-1">
            <a:extLst xmlns:a="http://schemas.openxmlformats.org/drawingml/2006/main">
              <a:ext uri="{FF2B5EF4-FFF2-40B4-BE49-F238E27FC236}">
                <a16:creationId xmlns:a16="http://schemas.microsoft.com/office/drawing/2014/main" id="{A389820A-8E62-4321-9C36-4DD6F977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095500"/>
            <a:ext cx="1028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318"/>
                </a:solidFill>
              </a:defRPr>
            </a:pPr>
            <a:r>
              <a:rPr sz="1275" b="1" i="0">
                <a:solidFill>
                  <a:srgbClr val="111318"/>
                </a:solidFill>
              </a:rPr>
              <a:t>STAGING</a:t>
            </a:r>
          </a:p>
          <a:p xmlns:a="http://schemas.openxmlformats.org/drawingml/2006/main">
            <a:pPr algn="ctr">
              <a:defRPr sz="1275" b="1" i="0">
                <a:solidFill>
                  <a:srgbClr val="111318"/>
                </a:solidFill>
              </a:defRPr>
            </a:pPr>
            <a:r>
              <a:rPr sz="1275" b="1" i="0">
                <a:solidFill>
                  <a:srgbClr val="111318"/>
                </a:solidFill>
              </a:rPr>
              <a:t>34 JSON</a:t>
            </a:r>
          </a:p>
        </p:txBody>
      </p:sp>
      <p:sp>
        <p:nvSpPr>
          <p:cNvPr id="7" name="content-stage-2">
            <a:extLst xmlns:a="http://schemas.openxmlformats.org/drawingml/2006/main">
              <a:ext uri="{FF2B5EF4-FFF2-40B4-BE49-F238E27FC236}">
                <a16:creationId xmlns:a16="http://schemas.microsoft.com/office/drawing/2014/main" id="{00E190E7-59B6-4B8D-B8B2-5621B5C3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095500"/>
            <a:ext cx="1028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318"/>
                </a:solidFill>
              </a:defRPr>
            </a:pPr>
            <a:r>
              <a:rPr sz="1275" b="1" i="0">
                <a:solidFill>
                  <a:srgbClr val="111318"/>
                </a:solidFill>
              </a:rPr>
              <a:t>VALIDATE</a:t>
            </a:r>
          </a:p>
          <a:p xmlns:a="http://schemas.openxmlformats.org/drawingml/2006/main">
            <a:pPr algn="ctr">
              <a:defRPr sz="1275" b="1" i="0">
                <a:solidFill>
                  <a:srgbClr val="111318"/>
                </a:solidFill>
              </a:defRPr>
            </a:pPr>
            <a:r>
              <a:rPr sz="1275" b="1" i="0">
                <a:solidFill>
                  <a:srgbClr val="111318"/>
                </a:solidFill>
              </a:rPr>
              <a:t>반려 9종</a:t>
            </a:r>
          </a:p>
        </p:txBody>
      </p:sp>
      <p:sp>
        <p:nvSpPr>
          <p:cNvPr id="8" name="content-stage-3">
            <a:extLst xmlns:a="http://schemas.openxmlformats.org/drawingml/2006/main">
              <a:ext uri="{FF2B5EF4-FFF2-40B4-BE49-F238E27FC236}">
                <a16:creationId xmlns:a16="http://schemas.microsoft.com/office/drawing/2014/main" id="{1ED61CCE-F250-45BE-B7DD-7925757F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095500"/>
            <a:ext cx="1028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318"/>
                </a:solidFill>
              </a:defRPr>
            </a:pPr>
            <a:r>
              <a:rPr sz="1275" b="1" i="0">
                <a:solidFill>
                  <a:srgbClr val="111318"/>
                </a:solidFill>
              </a:rPr>
              <a:t>DATA</a:t>
            </a:r>
          </a:p>
          <a:p xmlns:a="http://schemas.openxmlformats.org/drawingml/2006/main">
            <a:pPr algn="ctr">
              <a:defRPr sz="1275" b="1" i="0">
                <a:solidFill>
                  <a:srgbClr val="111318"/>
                </a:solidFill>
              </a:defRPr>
            </a:pPr>
            <a:r>
              <a:rPr sz="1275" b="1" i="0">
                <a:solidFill>
                  <a:srgbClr val="111318"/>
                </a:solidFill>
              </a:rPr>
              <a:t>통과분</a:t>
            </a:r>
          </a:p>
        </p:txBody>
      </p:sp>
      <p:sp>
        <p:nvSpPr>
          <p:cNvPr id="9" name="content-code-0">
            <a:extLst xmlns:a="http://schemas.openxmlformats.org/drawingml/2006/main">
              <a:ext uri="{FF2B5EF4-FFF2-40B4-BE49-F238E27FC236}">
                <a16:creationId xmlns:a16="http://schemas.microsoft.com/office/drawing/2014/main" id="{A2BE6630-0EA6-444C-9962-78CABAAF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B1F27"/>
                </a:solidFill>
              </a:defRPr>
            </a:pPr>
            <a:r>
              <a:rPr sz="1350" b="1" i="0">
                <a:solidFill>
                  <a:srgbClr val="1B1F27"/>
                </a:solidFill>
              </a:rPr>
              <a:t>스키마</a:t>
            </a:r>
          </a:p>
        </p:txBody>
      </p:sp>
      <p:sp>
        <p:nvSpPr>
          <p:cNvPr id="10" name="content-code-1">
            <a:extLst xmlns:a="http://schemas.openxmlformats.org/drawingml/2006/main">
              <a:ext uri="{FF2B5EF4-FFF2-40B4-BE49-F238E27FC236}">
                <a16:creationId xmlns:a16="http://schemas.microsoft.com/office/drawing/2014/main" id="{3214007F-F733-410E-ABC0-080DB79C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333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B1F27"/>
                </a:solidFill>
              </a:defRPr>
            </a:pPr>
            <a:r>
              <a:rPr sz="1350" b="1" i="0">
                <a:solidFill>
                  <a:srgbClr val="1B1F27"/>
                </a:solidFill>
              </a:rPr>
              <a:t>효과 DSL</a:t>
            </a:r>
          </a:p>
        </p:txBody>
      </p:sp>
      <p:sp>
        <p:nvSpPr>
          <p:cNvPr id="11" name="content-code-2">
            <a:extLst xmlns:a="http://schemas.openxmlformats.org/drawingml/2006/main">
              <a:ext uri="{FF2B5EF4-FFF2-40B4-BE49-F238E27FC236}">
                <a16:creationId xmlns:a16="http://schemas.microsoft.com/office/drawing/2014/main" id="{FDF40C11-2894-4E62-B932-3CE3D28C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33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B1F27"/>
                </a:solidFill>
              </a:defRPr>
            </a:pPr>
            <a:r>
              <a:rPr sz="1350" b="1" i="0">
                <a:solidFill>
                  <a:srgbClr val="1B1F27"/>
                </a:solidFill>
              </a:rPr>
              <a:t>토큰 범위</a:t>
            </a:r>
          </a:p>
        </p:txBody>
      </p:sp>
      <p:sp>
        <p:nvSpPr>
          <p:cNvPr id="12" name="content-code-3">
            <a:extLst xmlns:a="http://schemas.openxmlformats.org/drawingml/2006/main">
              <a:ext uri="{FF2B5EF4-FFF2-40B4-BE49-F238E27FC236}">
                <a16:creationId xmlns:a16="http://schemas.microsoft.com/office/drawing/2014/main" id="{3C4A8954-EF53-48DA-A8AD-23634867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B1F27"/>
                </a:solidFill>
              </a:defRPr>
            </a:pPr>
            <a:r>
              <a:rPr sz="1350" b="1" i="0">
                <a:solidFill>
                  <a:srgbClr val="1B1F27"/>
                </a:solidFill>
              </a:rPr>
              <a:t>합성 범위</a:t>
            </a:r>
          </a:p>
        </p:txBody>
      </p:sp>
      <p:sp>
        <p:nvSpPr>
          <p:cNvPr id="13" name="content-code-4">
            <a:extLst xmlns:a="http://schemas.openxmlformats.org/drawingml/2006/main">
              <a:ext uri="{FF2B5EF4-FFF2-40B4-BE49-F238E27FC236}">
                <a16:creationId xmlns:a16="http://schemas.microsoft.com/office/drawing/2014/main" id="{EAAB6672-8A7F-4F62-A7A3-3BCD3DF4E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95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B1F27"/>
                </a:solidFill>
              </a:defRPr>
            </a:pPr>
            <a:r>
              <a:rPr sz="1350" b="1" i="0">
                <a:solidFill>
                  <a:srgbClr val="1B1F27"/>
                </a:solidFill>
              </a:rPr>
              <a:t>요구 충돌</a:t>
            </a:r>
          </a:p>
        </p:txBody>
      </p:sp>
      <p:sp>
        <p:nvSpPr>
          <p:cNvPr id="14" name="content-code-5">
            <a:extLst xmlns:a="http://schemas.openxmlformats.org/drawingml/2006/main">
              <a:ext uri="{FF2B5EF4-FFF2-40B4-BE49-F238E27FC236}">
                <a16:creationId xmlns:a16="http://schemas.microsoft.com/office/drawing/2014/main" id="{C3BA25D1-2975-4228-BF16-C72E41B8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95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B1F27"/>
                </a:solidFill>
              </a:defRPr>
            </a:pPr>
            <a:r>
              <a:rPr sz="1350" b="1" i="0">
                <a:solidFill>
                  <a:srgbClr val="1B1F27"/>
                </a:solidFill>
              </a:rPr>
              <a:t>중복</a:t>
            </a:r>
          </a:p>
        </p:txBody>
      </p:sp>
      <p:sp>
        <p:nvSpPr>
          <p:cNvPr id="15" name="content-code-6">
            <a:extLst xmlns:a="http://schemas.openxmlformats.org/drawingml/2006/main">
              <a:ext uri="{FF2B5EF4-FFF2-40B4-BE49-F238E27FC236}">
                <a16:creationId xmlns:a16="http://schemas.microsoft.com/office/drawing/2014/main" id="{56DE25AE-E6C1-4A5B-BDE1-6FC4D0BF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57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B1F27"/>
                </a:solidFill>
              </a:defRPr>
            </a:pPr>
            <a:r>
              <a:rPr sz="1350" b="1" i="0">
                <a:solidFill>
                  <a:srgbClr val="1B1F27"/>
                </a:solidFill>
              </a:rPr>
              <a:t>값 이탈</a:t>
            </a:r>
          </a:p>
        </p:txBody>
      </p:sp>
      <p:sp>
        <p:nvSpPr>
          <p:cNvPr id="16" name="content-code-7">
            <a:extLst xmlns:a="http://schemas.openxmlformats.org/drawingml/2006/main">
              <a:ext uri="{FF2B5EF4-FFF2-40B4-BE49-F238E27FC236}">
                <a16:creationId xmlns:a16="http://schemas.microsoft.com/office/drawing/2014/main" id="{2E908D6C-C043-4AE9-8001-CE5BF30B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57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B1F27"/>
                </a:solidFill>
              </a:defRPr>
            </a:pPr>
            <a:r>
              <a:rPr sz="1350" b="1" i="0">
                <a:solidFill>
                  <a:srgbClr val="1B1F27"/>
                </a:solidFill>
              </a:rPr>
              <a:t>발동 불가</a:t>
            </a:r>
          </a:p>
        </p:txBody>
      </p:sp>
      <p:sp>
        <p:nvSpPr>
          <p:cNvPr id="17" name="content-code-8">
            <a:extLst xmlns:a="http://schemas.openxmlformats.org/drawingml/2006/main">
              <a:ext uri="{FF2B5EF4-FFF2-40B4-BE49-F238E27FC236}">
                <a16:creationId xmlns:a16="http://schemas.microsoft.com/office/drawing/2014/main" id="{F53CFD1C-27D9-456D-9F65-C2EC5845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857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B1F27"/>
                </a:solidFill>
              </a:defRPr>
            </a:pPr>
            <a:r>
              <a:rPr sz="1350" b="1" i="0">
                <a:solidFill>
                  <a:srgbClr val="1B1F27"/>
                </a:solidFill>
              </a:rPr>
              <a:t>층 배치</a:t>
            </a:r>
          </a:p>
        </p:txBody>
      </p:sp>
      <p:sp>
        <p:nvSpPr>
          <p:cNvPr id="18" name="content-pass">
            <a:extLst xmlns:a="http://schemas.openxmlformats.org/drawingml/2006/main">
              <a:ext uri="{FF2B5EF4-FFF2-40B4-BE49-F238E27FC236}">
                <a16:creationId xmlns:a16="http://schemas.microsoft.com/office/drawing/2014/main" id="{2BF7A044-2529-4810-B4C3-06A58CA6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829300"/>
            <a:ext cx="3762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모두 통과한 데이터만 게임에 진입</a:t>
            </a:r>
          </a:p>
        </p:txBody>
      </p:sp>
      <p:sp>
        <p:nvSpPr>
          <p:cNvPr id="19" name="content-179">
            <a:extLst xmlns:a="http://schemas.openxmlformats.org/drawingml/2006/main">
              <a:ext uri="{FF2B5EF4-FFF2-40B4-BE49-F238E27FC236}">
                <a16:creationId xmlns:a16="http://schemas.microsoft.com/office/drawing/2014/main" id="{E21BFCF6-0F39-4F0E-8178-9418561D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3360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111318"/>
                </a:solidFill>
              </a:defRPr>
            </a:pPr>
            <a:r>
              <a:rPr sz="4200" b="1" i="0">
                <a:solidFill>
                  <a:srgbClr val="111318"/>
                </a:solidFill>
              </a:rPr>
              <a:t>179장</a:t>
            </a:r>
          </a:p>
        </p:txBody>
      </p:sp>
      <p:sp>
        <p:nvSpPr>
          <p:cNvPr id="20" name="content-179-label">
            <a:extLst xmlns:a="http://schemas.openxmlformats.org/drawingml/2006/main">
              <a:ext uri="{FF2B5EF4-FFF2-40B4-BE49-F238E27FC236}">
                <a16:creationId xmlns:a16="http://schemas.microsoft.com/office/drawing/2014/main" id="{E0EB5F2A-C69F-4A63-A579-7F072C06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0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B7280"/>
                </a:solidFill>
              </a:defRPr>
            </a:pPr>
            <a:r>
              <a:rPr sz="1500" b="0" i="0">
                <a:solidFill>
                  <a:srgbClr val="6B7280"/>
                </a:solidFill>
              </a:rPr>
              <a:t>최종 카드 수</a:t>
            </a:r>
          </a:p>
        </p:txBody>
      </p:sp>
      <p:sp>
        <p:nvSpPr>
          <p:cNvPr id="21" name="content-nine">
            <a:extLst xmlns:a="http://schemas.openxmlformats.org/drawingml/2006/main">
              <a:ext uri="{FF2B5EF4-FFF2-40B4-BE49-F238E27FC236}">
                <a16:creationId xmlns:a16="http://schemas.microsoft.com/office/drawing/2014/main" id="{F630A8B1-B521-4FC6-977D-6F46ADA5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3360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D59B2D"/>
                </a:solidFill>
              </a:defRPr>
            </a:pPr>
            <a:r>
              <a:rPr sz="4200" b="1" i="0">
                <a:solidFill>
                  <a:srgbClr val="D59B2D"/>
                </a:solidFill>
              </a:rPr>
              <a:t>9종</a:t>
            </a:r>
          </a:p>
        </p:txBody>
      </p:sp>
      <p:sp>
        <p:nvSpPr>
          <p:cNvPr id="22" name="content-nine-label">
            <a:extLst xmlns:a="http://schemas.openxmlformats.org/drawingml/2006/main">
              <a:ext uri="{FF2B5EF4-FFF2-40B4-BE49-F238E27FC236}">
                <a16:creationId xmlns:a16="http://schemas.microsoft.com/office/drawing/2014/main" id="{16F5488E-90BE-4C54-83DF-F6B0E7AB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00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B7280"/>
                </a:solidFill>
              </a:defRPr>
            </a:pPr>
            <a:r>
              <a:rPr sz="1500" b="0" i="0">
                <a:solidFill>
                  <a:srgbClr val="6B7280"/>
                </a:solidFill>
              </a:rPr>
              <a:t>반려 사유 코드</a:t>
            </a:r>
          </a:p>
        </p:txBody>
      </p:sp>
      <p:sp>
        <p:nvSpPr>
          <p:cNvPr id="23" name="content-divider">
            <a:extLst xmlns:a="http://schemas.openxmlformats.org/drawingml/2006/main">
              <a:ext uri="{FF2B5EF4-FFF2-40B4-BE49-F238E27FC236}">
                <a16:creationId xmlns:a16="http://schemas.microsoft.com/office/drawing/2014/main" id="{19364D51-2412-47AB-9A93-75BEF8B7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956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ontent-loop-title">
            <a:extLst xmlns:a="http://schemas.openxmlformats.org/drawingml/2006/main">
              <a:ext uri="{FF2B5EF4-FFF2-40B4-BE49-F238E27FC236}">
                <a16:creationId xmlns:a16="http://schemas.microsoft.com/office/drawing/2014/main" id="{8EA9F146-F914-4FE8-8E13-1EE6DDAF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385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318"/>
                </a:solidFill>
              </a:defRPr>
            </a:pPr>
            <a:r>
              <a:rPr sz="1800" b="1" i="0">
                <a:solidFill>
                  <a:srgbClr val="111318"/>
                </a:solidFill>
              </a:rPr>
              <a:t>제우스 카드 반송 루프</a:t>
            </a:r>
          </a:p>
        </p:txBody>
      </p:sp>
      <p:sp>
        <p:nvSpPr>
          <p:cNvPr id="25" name="content-loop-number">
            <a:extLst xmlns:a="http://schemas.openxmlformats.org/drawingml/2006/main">
              <a:ext uri="{FF2B5EF4-FFF2-40B4-BE49-F238E27FC236}">
                <a16:creationId xmlns:a16="http://schemas.microsoft.com/office/drawing/2014/main" id="{0CCE2EEA-AF90-4BC7-9E06-0E425692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76700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318"/>
                </a:solidFill>
              </a:defRPr>
            </a:pPr>
            <a:r>
              <a:rPr sz="2850" b="1" i="0">
                <a:solidFill>
                  <a:srgbClr val="111318"/>
                </a:solidFill>
              </a:rPr>
              <a:t>30  →  20  +  7  =  27</a:t>
            </a:r>
          </a:p>
        </p:txBody>
      </p:sp>
      <p:sp>
        <p:nvSpPr>
          <p:cNvPr id="26" name="content-loop-label">
            <a:extLst xmlns:a="http://schemas.openxmlformats.org/drawingml/2006/main">
              <a:ext uri="{FF2B5EF4-FFF2-40B4-BE49-F238E27FC236}">
                <a16:creationId xmlns:a16="http://schemas.microsoft.com/office/drawing/2014/main" id="{7C7C74CB-77E8-4FE8-B236-4E36753C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91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B7280"/>
                </a:solidFill>
              </a:defRPr>
            </a:pPr>
            <a:r>
              <a:rPr sz="1275" b="0" i="0">
                <a:solidFill>
                  <a:srgbClr val="6B7280"/>
                </a:solidFill>
              </a:rPr>
              <a:t>초안     1차 통과   재생성 통과     최종 반영</a:t>
            </a:r>
          </a:p>
        </p:txBody>
      </p:sp>
      <p:sp>
        <p:nvSpPr>
          <p:cNvPr id="27" name="content-lessons">
            <a:extLst xmlns:a="http://schemas.openxmlformats.org/drawingml/2006/main">
              <a:ext uri="{FF2B5EF4-FFF2-40B4-BE49-F238E27FC236}">
                <a16:creationId xmlns:a16="http://schemas.microsoft.com/office/drawing/2014/main" id="{73E5E9CF-B4AE-4A76-A70E-41F71432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24450"/>
            <a:ext cx="5048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B1F27"/>
                </a:solidFill>
              </a:defRPr>
            </a:pPr>
            <a:r>
              <a:rPr sz="1575" b="0" i="0">
                <a:solidFill>
                  <a:srgbClr val="1B1F27"/>
                </a:solidFill>
              </a:rPr>
              <a:t>• 반려 사유를 재생성 입력에 포함</a:t>
            </a:r>
          </a:p>
          <a:p xmlns:a="http://schemas.openxmlformats.org/drawingml/2006/main">
            <a:pPr algn="l">
              <a:defRPr sz="1575" b="0" i="0">
                <a:solidFill>
                  <a:srgbClr val="1B1F27"/>
                </a:solidFill>
              </a:defRPr>
            </a:pPr>
            <a:r>
              <a:rPr sz="1575" b="0" i="0">
                <a:solidFill>
                  <a:srgbClr val="1B1F27"/>
                </a:solidFill>
              </a:rPr>
              <a:t>• 반복 실패는 프롬프트 규칙으로 승격</a:t>
            </a:r>
          </a:p>
          <a:p xmlns:a="http://schemas.openxmlformats.org/drawingml/2006/main">
            <a:pPr algn="l">
              <a:defRPr sz="1575" b="0" i="0">
                <a:solidFill>
                  <a:srgbClr val="1B1F27"/>
                </a:solidFill>
              </a:defRPr>
            </a:pPr>
            <a:r>
              <a:rPr sz="1575" b="0" i="0">
                <a:solidFill>
                  <a:srgbClr val="1B1F27"/>
                </a:solidFill>
              </a:rPr>
              <a:t>• 생성물의 실수가 검증 코드 자체를 키움</a:t>
            </a:r>
          </a:p>
        </p:txBody>
      </p:sp>
      <p:sp>
        <p:nvSpPr>
          <p:cNvPr id="28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59B67094-8A56-46A1-BE7C-D7B53438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footer-left-6">
            <a:extLst xmlns:a="http://schemas.openxmlformats.org/drawingml/2006/main">
              <a:ext uri="{FF2B5EF4-FFF2-40B4-BE49-F238E27FC236}">
                <a16:creationId xmlns:a16="http://schemas.microsoft.com/office/drawing/2014/main" id="{29961176-8D58-4949-8A17-787DEC2C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A8174"/>
                </a:solidFill>
              </a:defRPr>
            </a:pPr>
            <a:r>
              <a:rPr sz="975" b="0" i="0">
                <a:solidFill>
                  <a:srgbClr val="8A8174"/>
                </a:solidFill>
              </a:rPr>
              <a:t>신들의 저울 · AI 활용 기술</a:t>
            </a:r>
          </a:p>
        </p:txBody>
      </p:sp>
      <p:sp>
        <p:nvSpPr>
          <p:cNvPr id="30" name="footer-right-6">
            <a:extLst xmlns:a="http://schemas.openxmlformats.org/drawingml/2006/main">
              <a:ext uri="{FF2B5EF4-FFF2-40B4-BE49-F238E27FC236}">
                <a16:creationId xmlns:a16="http://schemas.microsoft.com/office/drawing/2014/main" id="{32278367-09FF-49B2-AA5F-20590574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8177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8A8174"/>
                </a:solidFill>
              </a:defRPr>
            </a:pPr>
            <a:r>
              <a:rPr sz="975" b="0" i="0">
                <a:solidFill>
                  <a:srgbClr val="8A8174"/>
                </a:solidFill>
              </a:rPr>
              <a:t>06 / 12</a:t>
            </a:r>
          </a:p>
        </p:txBody>
      </p:sp>
    </p:spTree>
    <p:extLst>
      <p:ext uri="{BB962C8B-B14F-4D97-AF65-F5344CB8AC3E}">
        <p14:creationId xmlns:p14="http://schemas.microsoft.com/office/powerpoint/2010/main" val="15964710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1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-7">
            <a:extLst xmlns:a="http://schemas.openxmlformats.org/drawingml/2006/main">
              <a:ext uri="{FF2B5EF4-FFF2-40B4-BE49-F238E27FC236}">
                <a16:creationId xmlns:a16="http://schemas.microsoft.com/office/drawing/2014/main" id="{62FE030E-9B99-4440-B63C-76B25739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0C96B"/>
                </a:solidFill>
              </a:defRPr>
            </a:pPr>
            <a:r>
              <a:rPr sz="1200" b="1" i="0">
                <a:solidFill>
                  <a:srgbClr val="F0C96B"/>
                </a:solidFill>
              </a:rPr>
              <a:t>07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5EFE10E2-4667-488A-96F0-AA21F0B8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</a:defRPr>
            </a:pPr>
            <a:r>
              <a:rPr sz="3150" b="1" i="0">
                <a:solidFill>
                  <a:srgbClr val="FFFFFF"/>
                </a:solidFill>
              </a:rPr>
              <a:t>브라우저 E2E는 ‘클릭’과 ‘눈’을 함께 자동화했다</a:t>
            </a:r>
          </a:p>
        </p:txBody>
      </p:sp>
      <p:sp>
        <p:nvSpPr>
          <p:cNvPr id="3" name="subhead-7">
            <a:extLst xmlns:a="http://schemas.openxmlformats.org/drawingml/2006/main">
              <a:ext uri="{FF2B5EF4-FFF2-40B4-BE49-F238E27FC236}">
                <a16:creationId xmlns:a16="http://schemas.microsoft.com/office/drawing/2014/main" id="{F760FCCD-AFF9-48A0-BCF3-11F9876D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C7C9CF"/>
                </a:solidFill>
              </a:defRPr>
            </a:pPr>
            <a:r>
              <a:rPr sz="1650" b="0" i="0">
                <a:solidFill>
                  <a:srgbClr val="C7C9CF"/>
                </a:solidFill>
              </a:rPr>
              <a:t>aside가 상황을 만들고, 실제 화면을 조작하고, 결과를 시각적으로 확인한다.</a:t>
            </a:r>
          </a:p>
        </p:txBody>
      </p:sp>
      <p:sp>
        <p:nvSpPr>
          <p:cNvPr id="4" name="e2e-a">
            <a:extLst xmlns:a="http://schemas.openxmlformats.org/drawingml/2006/main">
              <a:ext uri="{FF2B5EF4-FFF2-40B4-BE49-F238E27FC236}">
                <a16:creationId xmlns:a16="http://schemas.microsoft.com/office/drawing/2014/main" id="{1E2BBA10-1654-4838-AB12-3A22D834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0C96B"/>
                </a:solidFill>
              </a:defRPr>
            </a:pPr>
            <a:r>
              <a:rPr sz="1650" b="1" i="0">
                <a:solidFill>
                  <a:srgbClr val="F0C96B"/>
                </a:solidFill>
              </a:rPr>
              <a:t>01</a:t>
            </a:r>
          </a:p>
        </p:txBody>
      </p:sp>
      <p:sp>
        <p:nvSpPr>
          <p:cNvPr id="5" name="e2e-a-title">
            <a:extLst xmlns:a="http://schemas.openxmlformats.org/drawingml/2006/main">
              <a:ext uri="{FF2B5EF4-FFF2-40B4-BE49-F238E27FC236}">
                <a16:creationId xmlns:a16="http://schemas.microsoft.com/office/drawing/2014/main" id="{62D6A2D0-7C9C-4928-B24B-A649C724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098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12층 완주</a:t>
            </a:r>
          </a:p>
        </p:txBody>
      </p:sp>
      <p:sp>
        <p:nvSpPr>
          <p:cNvPr id="6" name="e2e-a-body">
            <a:extLst xmlns:a="http://schemas.openxmlformats.org/drawingml/2006/main">
              <a:ext uri="{FF2B5EF4-FFF2-40B4-BE49-F238E27FC236}">
                <a16:creationId xmlns:a16="http://schemas.microsoft.com/office/drawing/2014/main" id="{165558F3-231D-4A73-8BFE-E617EC49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479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C7C9CF"/>
                </a:solidFill>
              </a:defRPr>
            </a:pPr>
            <a:r>
              <a:rPr sz="1500" b="0" i="0">
                <a:solidFill>
                  <a:srgbClr val="C7C9CF"/>
                </a:solidFill>
              </a:rPr>
              <a:t>실제 클릭으로 완주한 결정열을</a:t>
            </a:r>
          </a:p>
          <a:p xmlns:a="http://schemas.openxmlformats.org/drawingml/2006/main">
            <a:pPr algn="l">
              <a:defRPr sz="1500" b="0" i="0">
                <a:solidFill>
                  <a:srgbClr val="C7C9CF"/>
                </a:solidFill>
              </a:defRPr>
            </a:pPr>
            <a:r>
              <a:rPr sz="1500" b="0" i="0">
                <a:solidFill>
                  <a:srgbClr val="C7C9CF"/>
                </a:solidFill>
              </a:rPr>
              <a:t>CLI 재생과 한 자리씩 대조</a:t>
            </a:r>
          </a:p>
        </p:txBody>
      </p:sp>
      <p:sp>
        <p:nvSpPr>
          <p:cNvPr id="7" name="e2e-b">
            <a:extLst xmlns:a="http://schemas.openxmlformats.org/drawingml/2006/main">
              <a:ext uri="{FF2B5EF4-FFF2-40B4-BE49-F238E27FC236}">
                <a16:creationId xmlns:a16="http://schemas.microsoft.com/office/drawing/2014/main" id="{9DA49712-0E60-44EB-BDD8-C9BABA11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0C96B"/>
                </a:solidFill>
              </a:defRPr>
            </a:pPr>
            <a:r>
              <a:rPr sz="1650" b="1" i="0">
                <a:solidFill>
                  <a:srgbClr val="F0C96B"/>
                </a:solidFill>
              </a:rPr>
              <a:t>02</a:t>
            </a:r>
          </a:p>
        </p:txBody>
      </p:sp>
      <p:sp>
        <p:nvSpPr>
          <p:cNvPr id="8" name="e2e-b-title">
            <a:extLst xmlns:a="http://schemas.openxmlformats.org/drawingml/2006/main">
              <a:ext uri="{FF2B5EF4-FFF2-40B4-BE49-F238E27FC236}">
                <a16:creationId xmlns:a16="http://schemas.microsoft.com/office/drawing/2014/main" id="{05972C66-877C-40B1-AB53-9B3DBE52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814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UI 변경 검증</a:t>
            </a:r>
          </a:p>
        </p:txBody>
      </p:sp>
      <p:sp>
        <p:nvSpPr>
          <p:cNvPr id="9" name="e2e-b-body">
            <a:extLst xmlns:a="http://schemas.openxmlformats.org/drawingml/2006/main">
              <a:ext uri="{FF2B5EF4-FFF2-40B4-BE49-F238E27FC236}">
                <a16:creationId xmlns:a16="http://schemas.microsoft.com/office/drawing/2014/main" id="{582FF8CD-0B44-48E1-8F85-BA1C0013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195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C7C9CF"/>
                </a:solidFill>
              </a:defRPr>
            </a:pPr>
            <a:r>
              <a:rPr sz="1500" b="0" i="0">
                <a:solidFill>
                  <a:srgbClr val="C7C9CF"/>
                </a:solidFill>
              </a:rPr>
              <a:t>가로 넘침·빈 칸·기하를</a:t>
            </a:r>
          </a:p>
          <a:p xmlns:a="http://schemas.openxmlformats.org/drawingml/2006/main">
            <a:pPr algn="l">
              <a:defRPr sz="1500" b="0" i="0">
                <a:solidFill>
                  <a:srgbClr val="C7C9CF"/>
                </a:solidFill>
              </a:defRPr>
            </a:pPr>
            <a:r>
              <a:rPr sz="1500" b="0" i="0">
                <a:solidFill>
                  <a:srgbClr val="C7C9CF"/>
                </a:solidFill>
              </a:rPr>
              <a:t>1440×900에서 실측</a:t>
            </a:r>
          </a:p>
        </p:txBody>
      </p:sp>
      <p:sp>
        <p:nvSpPr>
          <p:cNvPr id="10" name="e2e-c">
            <a:extLst xmlns:a="http://schemas.openxmlformats.org/drawingml/2006/main">
              <a:ext uri="{FF2B5EF4-FFF2-40B4-BE49-F238E27FC236}">
                <a16:creationId xmlns:a16="http://schemas.microsoft.com/office/drawing/2014/main" id="{46F60BEE-BE1C-45C2-BA00-C0907C15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0C96B"/>
                </a:solidFill>
              </a:defRPr>
            </a:pPr>
            <a:r>
              <a:rPr sz="1650" b="1" i="0">
                <a:solidFill>
                  <a:srgbClr val="F0C96B"/>
                </a:solidFill>
              </a:rPr>
              <a:t>03</a:t>
            </a:r>
          </a:p>
        </p:txBody>
      </p:sp>
      <p:sp>
        <p:nvSpPr>
          <p:cNvPr id="11" name="e2e-c-title">
            <a:extLst xmlns:a="http://schemas.openxmlformats.org/drawingml/2006/main">
              <a:ext uri="{FF2B5EF4-FFF2-40B4-BE49-F238E27FC236}">
                <a16:creationId xmlns:a16="http://schemas.microsoft.com/office/drawing/2014/main" id="{FF064536-5D6A-4595-9AB4-D508A238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530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탐색 플레이</a:t>
            </a:r>
          </a:p>
        </p:txBody>
      </p:sp>
      <p:sp>
        <p:nvSpPr>
          <p:cNvPr id="12" name="e2e-c-body">
            <a:extLst xmlns:a="http://schemas.openxmlformats.org/drawingml/2006/main">
              <a:ext uri="{FF2B5EF4-FFF2-40B4-BE49-F238E27FC236}">
                <a16:creationId xmlns:a16="http://schemas.microsoft.com/office/drawing/2014/main" id="{679C4299-6C11-4384-900A-D85DBA06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3911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C7C9CF"/>
                </a:solidFill>
              </a:defRPr>
            </a:pPr>
            <a:r>
              <a:rPr sz="1500" b="0" i="0">
                <a:solidFill>
                  <a:srgbClr val="C7C9CF"/>
                </a:solidFill>
              </a:rPr>
              <a:t>검증할 상태를 스스로 만들고</a:t>
            </a:r>
          </a:p>
          <a:p xmlns:a="http://schemas.openxmlformats.org/drawingml/2006/main">
            <a:pPr algn="l">
              <a:defRPr sz="1500" b="0" i="0">
                <a:solidFill>
                  <a:srgbClr val="C7C9CF"/>
                </a:solidFill>
              </a:defRPr>
            </a:pPr>
            <a:r>
              <a:rPr sz="1500" b="0" i="0">
                <a:solidFill>
                  <a:srgbClr val="C7C9CF"/>
                </a:solidFill>
              </a:rPr>
              <a:t>다음 사례까지 찾아간다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8797b624454a67"/>
          <a:srcRect xmlns:a="http://schemas.openxmlformats.org/drawingml/2006/main" l="6375" t="0" r="63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2209800"/>
            <a:ext cx="6648450" cy="3733800"/>
          </a:xfrm>
          <a:prstGeom xmlns:a="http://schemas.openxmlformats.org/drawingml/2006/main" prst="rect">
            <a:avLst/>
          </a:prstGeom>
        </p:spPr>
      </p:pic>
      <p:sp>
        <p:nvSpPr>
          <p:cNvPr id="14" name="aside-caption-bg">
            <a:extLst xmlns:a="http://schemas.openxmlformats.org/drawingml/2006/main">
              <a:ext uri="{FF2B5EF4-FFF2-40B4-BE49-F238E27FC236}">
                <a16:creationId xmlns:a16="http://schemas.microsoft.com/office/drawing/2014/main" id="{9E5C286C-FC09-4F41-9493-5B34082E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695950"/>
            <a:ext cx="6648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side-caption">
            <a:extLst xmlns:a="http://schemas.openxmlformats.org/drawingml/2006/main">
              <a:ext uri="{FF2B5EF4-FFF2-40B4-BE49-F238E27FC236}">
                <a16:creationId xmlns:a16="http://schemas.microsoft.com/office/drawing/2014/main" id="{24A99C55-4A0B-47DE-B03C-78C43BC9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829300"/>
            <a:ext cx="628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318"/>
                </a:solidFill>
              </a:defRPr>
            </a:pPr>
            <a:r>
              <a:rPr sz="1350" b="1" i="0">
                <a:solidFill>
                  <a:srgbClr val="111318"/>
                </a:solidFill>
              </a:rPr>
              <a:t>방어 4와 피해 −5의 표시 순서를 확인한 뒤, 적 쪽 사례를 스스로 찾는 장면</a:t>
            </a:r>
          </a:p>
        </p:txBody>
      </p:sp>
      <p:sp>
        <p:nvSpPr>
          <p:cNvPr id="16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BF14418F-1CE5-4460-9B16-F1EB5EE3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0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-7">
            <a:extLst xmlns:a="http://schemas.openxmlformats.org/drawingml/2006/main">
              <a:ext uri="{FF2B5EF4-FFF2-40B4-BE49-F238E27FC236}">
                <a16:creationId xmlns:a16="http://schemas.microsoft.com/office/drawing/2014/main" id="{898CAEAA-B44C-46C9-88C1-99877F61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C919B"/>
                </a:solidFill>
              </a:defRPr>
            </a:pPr>
            <a:r>
              <a:rPr sz="975" b="0" i="0">
                <a:solidFill>
                  <a:srgbClr val="8C919B"/>
                </a:solidFill>
              </a:rPr>
              <a:t>신들의 저울 · AI 활용 기술</a:t>
            </a:r>
          </a:p>
        </p:txBody>
      </p:sp>
      <p:sp>
        <p:nvSpPr>
          <p:cNvPr id="18" name="footer-right-7">
            <a:extLst xmlns:a="http://schemas.openxmlformats.org/drawingml/2006/main">
              <a:ext uri="{FF2B5EF4-FFF2-40B4-BE49-F238E27FC236}">
                <a16:creationId xmlns:a16="http://schemas.microsoft.com/office/drawing/2014/main" id="{492143DB-8357-4AAA-9484-9CF52AC5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8177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8C919B"/>
                </a:solidFill>
              </a:defRPr>
            </a:pPr>
            <a:r>
              <a:rPr sz="975" b="0" i="0">
                <a:solidFill>
                  <a:srgbClr val="8C919B"/>
                </a:solidFill>
              </a:rPr>
              <a:t>07 / 12</a:t>
            </a:r>
          </a:p>
        </p:txBody>
      </p:sp>
    </p:spTree>
    <p:extLst>
      <p:ext uri="{BB962C8B-B14F-4D97-AF65-F5344CB8AC3E}">
        <p14:creationId xmlns:p14="http://schemas.microsoft.com/office/powerpoint/2010/main" val="4290331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-8">
            <a:extLst xmlns:a="http://schemas.openxmlformats.org/drawingml/2006/main">
              <a:ext uri="{FF2B5EF4-FFF2-40B4-BE49-F238E27FC236}">
                <a16:creationId xmlns:a16="http://schemas.microsoft.com/office/drawing/2014/main" id="{70758219-F902-48BA-885B-1B81BE4A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0C96B"/>
                </a:solidFill>
              </a:defRPr>
            </a:pPr>
            <a:r>
              <a:rPr sz="1200" b="1" i="0">
                <a:solidFill>
                  <a:srgbClr val="F0C96B"/>
                </a:solidFill>
              </a:rPr>
              <a:t>08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9CE08CF2-F3E7-42BD-976F-712777E6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11318"/>
                </a:solidFill>
              </a:defRPr>
            </a:pPr>
            <a:r>
              <a:rPr sz="3150" b="1" i="0">
                <a:solidFill>
                  <a:srgbClr val="111318"/>
                </a:solidFill>
              </a:rPr>
              <a:t>밸런스 판단은 조합 승률 하한 5% 하나로 잠갔다</a:t>
            </a:r>
          </a:p>
        </p:txBody>
      </p:sp>
      <p:sp>
        <p:nvSpPr>
          <p:cNvPr id="3" name="subhead-8">
            <a:extLst xmlns:a="http://schemas.openxmlformats.org/drawingml/2006/main">
              <a:ext uri="{FF2B5EF4-FFF2-40B4-BE49-F238E27FC236}">
                <a16:creationId xmlns:a16="http://schemas.microsoft.com/office/drawing/2014/main" id="{6503456E-B78B-4405-B847-DCDD866B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B7280"/>
                </a:solidFill>
              </a:defRPr>
            </a:pPr>
            <a:r>
              <a:rPr sz="1650" b="0" i="0">
                <a:solidFill>
                  <a:srgbClr val="6B7280"/>
                </a:solidFill>
              </a:rPr>
              <a:t>지표를 늘리지 않고, 통과하지 못한 값은 테스트에 넣지도 깎지도 않았다.</a:t>
            </a:r>
          </a:p>
        </p:txBody>
      </p:sp>
      <p:sp>
        <p:nvSpPr>
          <p:cNvPr id="4" name="balance-side">
            <a:extLst xmlns:a="http://schemas.openxmlformats.org/drawingml/2006/main">
              <a:ext uri="{FF2B5EF4-FFF2-40B4-BE49-F238E27FC236}">
                <a16:creationId xmlns:a16="http://schemas.microsoft.com/office/drawing/2014/main" id="{3071A002-2C34-4241-BF66-A68B5DDE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3431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alance-only">
            <a:extLst xmlns:a="http://schemas.openxmlformats.org/drawingml/2006/main">
              <a:ext uri="{FF2B5EF4-FFF2-40B4-BE49-F238E27FC236}">
                <a16:creationId xmlns:a16="http://schemas.microsoft.com/office/drawing/2014/main" id="{9ED9522B-DEF3-413D-9868-41E1C9191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0C96B"/>
                </a:solidFill>
              </a:defRPr>
            </a:pPr>
            <a:r>
              <a:rPr sz="1425" b="1" i="0">
                <a:solidFill>
                  <a:srgbClr val="F0C96B"/>
                </a:solidFill>
              </a:rPr>
              <a:t>유일한 게이트</a:t>
            </a:r>
          </a:p>
        </p:txBody>
      </p:sp>
      <p:sp>
        <p:nvSpPr>
          <p:cNvPr id="6" name="balance-five">
            <a:extLst xmlns:a="http://schemas.openxmlformats.org/drawingml/2006/main">
              <a:ext uri="{FF2B5EF4-FFF2-40B4-BE49-F238E27FC236}">
                <a16:creationId xmlns:a16="http://schemas.microsoft.com/office/drawing/2014/main" id="{B279778B-C37C-4A47-B4CD-4EFA13E9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0" b="1" i="0">
                <a:solidFill>
                  <a:srgbClr val="FFFFFF"/>
                </a:solidFill>
              </a:defRPr>
            </a:pPr>
            <a:r>
              <a:rPr sz="5400" b="1" i="0">
                <a:solidFill>
                  <a:srgbClr val="FFFFFF"/>
                </a:solidFill>
              </a:rPr>
              <a:t>5%</a:t>
            </a:r>
          </a:p>
        </p:txBody>
      </p:sp>
      <p:sp>
        <p:nvSpPr>
          <p:cNvPr id="7" name="balance-five-label">
            <a:extLst xmlns:a="http://schemas.openxmlformats.org/drawingml/2006/main">
              <a:ext uri="{FF2B5EF4-FFF2-40B4-BE49-F238E27FC236}">
                <a16:creationId xmlns:a16="http://schemas.microsoft.com/office/drawing/2014/main" id="{936FA8C4-4F14-4804-99B2-33471994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338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조합 승률 하한</a:t>
            </a:r>
          </a:p>
        </p:txBody>
      </p:sp>
      <p:sp>
        <p:nvSpPr>
          <p:cNvPr id="8" name="balance-side-rule">
            <a:extLst xmlns:a="http://schemas.openxmlformats.org/drawingml/2006/main">
              <a:ext uri="{FF2B5EF4-FFF2-40B4-BE49-F238E27FC236}">
                <a16:creationId xmlns:a16="http://schemas.microsoft.com/office/drawing/2014/main" id="{46432FC2-1ECF-4179-8984-F7A974C8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152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46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alance-lock">
            <a:extLst xmlns:a="http://schemas.openxmlformats.org/drawingml/2006/main">
              <a:ext uri="{FF2B5EF4-FFF2-40B4-BE49-F238E27FC236}">
                <a16:creationId xmlns:a16="http://schemas.microsoft.com/office/drawing/2014/main" id="{28FF7665-A1A7-4BEC-AFA6-15392EB6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52950"/>
            <a:ext cx="1714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C9CCD2"/>
                </a:solidFill>
              </a:defRPr>
            </a:pPr>
            <a:r>
              <a:rPr sz="1500" b="0" i="0">
                <a:solidFill>
                  <a:srgbClr val="C9CCD2"/>
                </a:solidFill>
              </a:rPr>
              <a:t>측정 전에 고정</a:t>
            </a:r>
          </a:p>
          <a:p xmlns:a="http://schemas.openxmlformats.org/drawingml/2006/main">
            <a:pPr algn="l">
              <a:defRPr sz="1500" b="0" i="0">
                <a:solidFill>
                  <a:srgbClr val="C9CCD2"/>
                </a:solidFill>
              </a:defRPr>
            </a:pPr>
            <a:r>
              <a:rPr sz="1500" b="0" i="0">
                <a:solidFill>
                  <a:srgbClr val="C9CCD2"/>
                </a:solidFill>
              </a:rPr>
              <a:t>실패하면 숫자를 수정</a:t>
            </a:r>
          </a:p>
          <a:p xmlns:a="http://schemas.openxmlformats.org/drawingml/2006/main">
            <a:pPr algn="l">
              <a:defRPr sz="1500" b="0" i="0">
                <a:solidFill>
                  <a:srgbClr val="C9CCD2"/>
                </a:solidFill>
              </a:defRPr>
            </a:pPr>
            <a:r>
              <a:rPr sz="1500" b="0" i="0">
                <a:solidFill>
                  <a:srgbClr val="C9CCD2"/>
                </a:solidFill>
              </a:rPr>
              <a:t>사람·AI 개입도 계측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3257550" y="2114550"/>
          <a:ext xmlns:a="http://schemas.openxmlformats.org/drawingml/2006/main" cx="8248650" cy="4038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d794ccfc8c34de4"/>
          </a:graphicData>
        </a:graphic>
      </p:graphicFrame>
      <p:sp>
        <p:nvSpPr>
          <p:cNvPr id="11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3B526606-B815-46CD-935F-FA6C38E3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left-8">
            <a:extLst xmlns:a="http://schemas.openxmlformats.org/drawingml/2006/main">
              <a:ext uri="{FF2B5EF4-FFF2-40B4-BE49-F238E27FC236}">
                <a16:creationId xmlns:a16="http://schemas.microsoft.com/office/drawing/2014/main" id="{5865BC3A-8ED8-4E24-889B-BAFBC184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A8174"/>
                </a:solidFill>
              </a:defRPr>
            </a:pPr>
            <a:r>
              <a:rPr sz="975" b="0" i="0">
                <a:solidFill>
                  <a:srgbClr val="8A8174"/>
                </a:solidFill>
              </a:rPr>
              <a:t>신들의 저울 · AI 활용 기술</a:t>
            </a:r>
          </a:p>
        </p:txBody>
      </p:sp>
      <p:sp>
        <p:nvSpPr>
          <p:cNvPr id="13" name="footer-right-8">
            <a:extLst xmlns:a="http://schemas.openxmlformats.org/drawingml/2006/main">
              <a:ext uri="{FF2B5EF4-FFF2-40B4-BE49-F238E27FC236}">
                <a16:creationId xmlns:a16="http://schemas.microsoft.com/office/drawing/2014/main" id="{FB4517C3-8EBA-4F15-8C36-E80AC3B1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8177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8A8174"/>
                </a:solidFill>
              </a:defRPr>
            </a:pPr>
            <a:r>
              <a:rPr sz="975" b="0" i="0">
                <a:solidFill>
                  <a:srgbClr val="8A8174"/>
                </a:solidFill>
              </a:rPr>
              <a:t>08 / 12</a:t>
            </a:r>
          </a:p>
        </p:txBody>
      </p:sp>
    </p:spTree>
    <p:extLst>
      <p:ext uri="{BB962C8B-B14F-4D97-AF65-F5344CB8AC3E}">
        <p14:creationId xmlns:p14="http://schemas.microsoft.com/office/powerpoint/2010/main" val="595196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1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-9">
            <a:extLst xmlns:a="http://schemas.openxmlformats.org/drawingml/2006/main">
              <a:ext uri="{FF2B5EF4-FFF2-40B4-BE49-F238E27FC236}">
                <a16:creationId xmlns:a16="http://schemas.microsoft.com/office/drawing/2014/main" id="{2425059C-7CDA-4D94-90FB-B5DB514D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0C96B"/>
                </a:solidFill>
              </a:defRPr>
            </a:pPr>
            <a:r>
              <a:rPr sz="1200" b="1" i="0">
                <a:solidFill>
                  <a:srgbClr val="F0C96B"/>
                </a:solidFill>
              </a:rPr>
              <a:t>09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2D79CE9E-A368-4B7E-AF84-6FDED1A7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</a:defRPr>
            </a:pPr>
            <a:r>
              <a:rPr sz="3150" b="1" i="0">
                <a:solidFill>
                  <a:srgbClr val="FFFFFF"/>
                </a:solidFill>
              </a:rPr>
              <a:t>게이트는 하나, 통계는 판정 없는 보고로만 남겼다</a:t>
            </a:r>
          </a:p>
        </p:txBody>
      </p:sp>
      <p:sp>
        <p:nvSpPr>
          <p:cNvPr id="3" name="subhead-9">
            <a:extLst xmlns:a="http://schemas.openxmlformats.org/drawingml/2006/main">
              <a:ext uri="{FF2B5EF4-FFF2-40B4-BE49-F238E27FC236}">
                <a16:creationId xmlns:a16="http://schemas.microsoft.com/office/drawing/2014/main" id="{B3422BFB-045C-49DE-B5F1-2476EEE7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C7C9CF"/>
                </a:solidFill>
              </a:defRPr>
            </a:pPr>
            <a:r>
              <a:rPr sz="1650" b="0" i="0">
                <a:solidFill>
                  <a:srgbClr val="C7C9CF"/>
                </a:solidFill>
              </a:rPr>
              <a:t>층화 2,000런 리포트는 게임과 함께 배포되지만 새로운 합격선을 만들지 않는다.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17e24a365841c7"/>
          <a:srcRect xmlns:a="http://schemas.openxmlformats.org/drawingml/2006/main" l="0" t="21213" r="0" b="212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52650"/>
            <a:ext cx="10820400" cy="224790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6689c759034a87"/>
          <a:srcRect xmlns:a="http://schemas.openxmlformats.org/drawingml/2006/main" l="0" t="22447" r="0" b="224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629150"/>
            <a:ext cx="7239000" cy="1581150"/>
          </a:xfrm>
          <a:prstGeom xmlns:a="http://schemas.openxmlformats.org/drawingml/2006/main" prst="rect">
            <a:avLst/>
          </a:prstGeom>
        </p:spPr>
      </p:pic>
      <p:sp>
        <p:nvSpPr>
          <p:cNvPr id="6" name="stats-callout-title">
            <a:extLst xmlns:a="http://schemas.openxmlformats.org/drawingml/2006/main">
              <a:ext uri="{FF2B5EF4-FFF2-40B4-BE49-F238E27FC236}">
                <a16:creationId xmlns:a16="http://schemas.microsoft.com/office/drawing/2014/main" id="{A39AF881-EEBC-4F4D-8C77-6A466A7F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815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0C96B"/>
                </a:solidFill>
              </a:defRPr>
            </a:pPr>
            <a:r>
              <a:rPr sz="1725" b="1" i="0">
                <a:solidFill>
                  <a:srgbClr val="F0C96B"/>
                </a:solidFill>
              </a:rPr>
              <a:t>REPORT ≠ GATE</a:t>
            </a:r>
          </a:p>
        </p:txBody>
      </p:sp>
      <p:sp>
        <p:nvSpPr>
          <p:cNvPr id="7" name="stats-callout">
            <a:extLst xmlns:a="http://schemas.openxmlformats.org/drawingml/2006/main">
              <a:ext uri="{FF2B5EF4-FFF2-40B4-BE49-F238E27FC236}">
                <a16:creationId xmlns:a16="http://schemas.microsoft.com/office/drawing/2014/main" id="{267BAD8F-53F1-488C-971E-2CD0C205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2768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</a:defRPr>
            </a:pPr>
            <a:r>
              <a:rPr sz="1500" b="0" i="0">
                <a:solidFill>
                  <a:srgbClr val="FFFFFF"/>
                </a:solidFill>
              </a:rPr>
              <a:t>조합 승률·격파율·패배 지점·우호도 분포는 원인을 읽기 위한 증거다.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 i="0">
                <a:solidFill>
                  <a:srgbClr val="FFFFFF"/>
                </a:solidFill>
              </a:defRPr>
            </a:pPr>
            <a:r>
              <a:rPr sz="1500" b="0" i="0">
                <a:solidFill>
                  <a:srgbClr val="FFFFFF"/>
                </a:solidFill>
              </a:rPr>
              <a:t>통과 여부는 오직 5% 하한만 결정한다.</a:t>
            </a:r>
          </a:p>
        </p:txBody>
      </p:sp>
      <p:sp>
        <p:nvSpPr>
          <p:cNvPr id="8" name="footer-rule-9">
            <a:extLst xmlns:a="http://schemas.openxmlformats.org/drawingml/2006/main">
              <a:ext uri="{FF2B5EF4-FFF2-40B4-BE49-F238E27FC236}">
                <a16:creationId xmlns:a16="http://schemas.microsoft.com/office/drawing/2014/main" id="{AE5947F7-1F76-49FD-AB13-FB0A622F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0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left-9">
            <a:extLst xmlns:a="http://schemas.openxmlformats.org/drawingml/2006/main">
              <a:ext uri="{FF2B5EF4-FFF2-40B4-BE49-F238E27FC236}">
                <a16:creationId xmlns:a16="http://schemas.microsoft.com/office/drawing/2014/main" id="{F09488E6-A517-437C-9D9F-9FD6A530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C919B"/>
                </a:solidFill>
              </a:defRPr>
            </a:pPr>
            <a:r>
              <a:rPr sz="975" b="0" i="0">
                <a:solidFill>
                  <a:srgbClr val="8C919B"/>
                </a:solidFill>
              </a:rPr>
              <a:t>신들의 저울 · AI 활용 기술</a:t>
            </a:r>
          </a:p>
        </p:txBody>
      </p:sp>
      <p:sp>
        <p:nvSpPr>
          <p:cNvPr id="10" name="footer-right-9">
            <a:extLst xmlns:a="http://schemas.openxmlformats.org/drawingml/2006/main">
              <a:ext uri="{FF2B5EF4-FFF2-40B4-BE49-F238E27FC236}">
                <a16:creationId xmlns:a16="http://schemas.microsoft.com/office/drawing/2014/main" id="{96986506-23A9-404E-A94A-FFD26CA9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8177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8C919B"/>
                </a:solidFill>
              </a:defRPr>
            </a:pPr>
            <a:r>
              <a:rPr sz="975" b="0" i="0">
                <a:solidFill>
                  <a:srgbClr val="8C919B"/>
                </a:solidFill>
              </a:rPr>
              <a:t>09 / 12</a:t>
            </a:r>
          </a:p>
        </p:txBody>
      </p:sp>
    </p:spTree>
    <p:extLst>
      <p:ext uri="{BB962C8B-B14F-4D97-AF65-F5344CB8AC3E}">
        <p14:creationId xmlns:p14="http://schemas.microsoft.com/office/powerpoint/2010/main" val="18939652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10">
            <a:extLst xmlns:a="http://schemas.openxmlformats.org/drawingml/2006/main">
              <a:ext uri="{FF2B5EF4-FFF2-40B4-BE49-F238E27FC236}">
                <a16:creationId xmlns:a16="http://schemas.microsoft.com/office/drawing/2014/main" id="{2FFFE2FB-F0FC-425D-939B-CA667F0F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0C96B"/>
                </a:solidFill>
              </a:defRPr>
            </a:pPr>
            <a:r>
              <a:rPr sz="1200" b="1" i="0">
                <a:solidFill>
                  <a:srgbClr val="F0C96B"/>
                </a:solidFill>
              </a:rPr>
              <a:t>10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CA94ABC5-6341-4AC3-814C-272E746C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11318"/>
                </a:solidFill>
              </a:defRPr>
            </a:pPr>
            <a:r>
              <a:rPr sz="3150" b="1" i="0">
                <a:solidFill>
                  <a:srgbClr val="111318"/>
                </a:solidFill>
              </a:rPr>
              <a:t>프롬프트·원본·QA·배포본을 한 묶음으로 남겼다</a:t>
            </a:r>
          </a:p>
        </p:txBody>
      </p:sp>
      <p:sp>
        <p:nvSpPr>
          <p:cNvPr id="3" name="subhead-10">
            <a:extLst xmlns:a="http://schemas.openxmlformats.org/drawingml/2006/main">
              <a:ext uri="{FF2B5EF4-FFF2-40B4-BE49-F238E27FC236}">
                <a16:creationId xmlns:a16="http://schemas.microsoft.com/office/drawing/2014/main" id="{7FF5D7F0-BC80-4182-AB03-8F0A6B6C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B7280"/>
                </a:solidFill>
              </a:defRPr>
            </a:pPr>
            <a:r>
              <a:rPr sz="1650" b="0" i="0">
                <a:solidFill>
                  <a:srgbClr val="6B7280"/>
                </a:solidFill>
              </a:rPr>
              <a:t>재현 가능한 입력과 사람이 볼 수 있는 중간 산출물이 같은 런 폴더에 남는다.</a:t>
            </a:r>
          </a:p>
        </p:txBody>
      </p:sp>
      <p:sp>
        <p:nvSpPr>
          <p:cNvPr id="4" name="art-step1">
            <a:extLst xmlns:a="http://schemas.openxmlformats.org/drawingml/2006/main">
              <a:ext uri="{FF2B5EF4-FFF2-40B4-BE49-F238E27FC236}">
                <a16:creationId xmlns:a16="http://schemas.microsoft.com/office/drawing/2014/main" id="{8D0661AF-AA03-412E-B175-9ADCA11A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318"/>
                </a:solidFill>
              </a:defRPr>
            </a:pPr>
            <a:r>
              <a:rPr sz="1500" b="1" i="0">
                <a:solidFill>
                  <a:srgbClr val="111318"/>
                </a:solidFill>
              </a:rPr>
              <a:t>01 · 생성 원본</a:t>
            </a:r>
          </a:p>
        </p:txBody>
      </p:sp>
      <p:sp>
        <p:nvSpPr>
          <p:cNvPr id="5" name="art-step2">
            <a:extLst xmlns:a="http://schemas.openxmlformats.org/drawingml/2006/main">
              <a:ext uri="{FF2B5EF4-FFF2-40B4-BE49-F238E27FC236}">
                <a16:creationId xmlns:a16="http://schemas.microsoft.com/office/drawing/2014/main" id="{E086D1F7-2195-4C9F-934D-074F6460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145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318"/>
                </a:solidFill>
              </a:defRPr>
            </a:pPr>
            <a:r>
              <a:rPr sz="1500" b="1" i="0">
                <a:solidFill>
                  <a:srgbClr val="111318"/>
                </a:solidFill>
              </a:rPr>
              <a:t>02 · 프레임 QA</a:t>
            </a:r>
          </a:p>
        </p:txBody>
      </p:sp>
      <p:sp>
        <p:nvSpPr>
          <p:cNvPr id="6" name="art-step3">
            <a:extLst xmlns:a="http://schemas.openxmlformats.org/drawingml/2006/main">
              <a:ext uri="{FF2B5EF4-FFF2-40B4-BE49-F238E27FC236}">
                <a16:creationId xmlns:a16="http://schemas.microsoft.com/office/drawing/2014/main" id="{4C1E50E3-E3D5-4CF0-8115-5CE88F31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145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318"/>
                </a:solidFill>
              </a:defRPr>
            </a:pPr>
            <a:r>
              <a:rPr sz="1500" b="1" i="0">
                <a:solidFill>
                  <a:srgbClr val="111318"/>
                </a:solidFill>
              </a:rPr>
              <a:t>03 · 배포 스트립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894fc322d2404a"/>
          <a:stretch xmlns:a="http://schemas.openxmlformats.org/drawingml/2006/main"/>
        </p:blipFill>
        <p:spPr>
          <a:xfrm xmlns:a="http://schemas.openxmlformats.org/drawingml/2006/main">
            <a:off x="1013222" y="2533650"/>
            <a:ext cx="1650206" cy="2933700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e468a064b4491b"/>
          <a:stretch xmlns:a="http://schemas.openxmlformats.org/drawingml/2006/main"/>
        </p:blipFill>
        <p:spPr>
          <a:xfrm xmlns:a="http://schemas.openxmlformats.org/drawingml/2006/main">
            <a:off x="3965688" y="2533650"/>
            <a:ext cx="2546123" cy="2933700"/>
          </a:xfrm>
          <a:prstGeom xmlns:a="http://schemas.openxmlformats.org/drawingml/2006/main" prst="rect">
            <a:avLst/>
          </a:prstGeom>
        </p:spPr>
      </p:pic>
      <p:sp>
        <p:nvSpPr>
          <p:cNvPr id="9" name="deploy-dark">
            <a:extLst xmlns:a="http://schemas.openxmlformats.org/drawingml/2006/main">
              <a:ext uri="{FF2B5EF4-FFF2-40B4-BE49-F238E27FC236}">
                <a16:creationId xmlns:a16="http://schemas.microsoft.com/office/drawing/2014/main" id="{967083F0-7BA7-4994-8613-D4C3E163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33650"/>
            <a:ext cx="39243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362f4b99764113"/>
          <a:stretch xmlns:a="http://schemas.openxmlformats.org/drawingml/2006/main"/>
        </p:blipFill>
        <p:spPr>
          <a:xfrm xmlns:a="http://schemas.openxmlformats.org/drawingml/2006/main">
            <a:off x="7753350" y="3106208"/>
            <a:ext cx="3581400" cy="397933"/>
          </a:xfrm>
          <a:prstGeom xmlns:a="http://schemas.openxmlformats.org/drawingml/2006/main" prst="rect">
            <a:avLst/>
          </a:prstGeom>
        </p:spPr>
      </p:pic>
      <p:sp>
        <p:nvSpPr>
          <p:cNvPr id="11" name="art-pair">
            <a:extLst xmlns:a="http://schemas.openxmlformats.org/drawingml/2006/main">
              <a:ext uri="{FF2B5EF4-FFF2-40B4-BE49-F238E27FC236}">
                <a16:creationId xmlns:a16="http://schemas.microsoft.com/office/drawing/2014/main" id="{1FA86CEE-28D3-41BE-927F-7FE9D147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81500"/>
            <a:ext cx="342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318"/>
                </a:solidFill>
              </a:defRPr>
            </a:pPr>
            <a:r>
              <a:rPr sz="1800" b="1" i="0">
                <a:solidFill>
                  <a:srgbClr val="111318"/>
                </a:solidFill>
              </a:rPr>
              <a:t>카드 이미지만 179쌍</a:t>
            </a:r>
          </a:p>
          <a:p xmlns:a="http://schemas.openxmlformats.org/drawingml/2006/main">
            <a:pPr algn="l">
              <a:defRPr sz="1800" b="1" i="0">
                <a:solidFill>
                  <a:srgbClr val="111318"/>
                </a:solidFill>
              </a:defRPr>
            </a:pPr>
            <a:r>
              <a:rPr sz="1800" b="1" i="0">
                <a:solidFill>
                  <a:srgbClr val="111318"/>
                </a:solidFill>
              </a:rPr>
              <a:t>프롬프트 사이드카 보존</a:t>
            </a:r>
          </a:p>
        </p:txBody>
      </p:sp>
      <p:sp>
        <p:nvSpPr>
          <p:cNvPr id="12" name="art-check">
            <a:extLst xmlns:a="http://schemas.openxmlformats.org/drawingml/2006/main">
              <a:ext uri="{FF2B5EF4-FFF2-40B4-BE49-F238E27FC236}">
                <a16:creationId xmlns:a16="http://schemas.microsoft.com/office/drawing/2014/main" id="{7F7B31B2-3EB4-48FF-9858-432BCBA7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1816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D8C88"/>
                </a:solidFill>
              </a:defRPr>
            </a:pPr>
            <a:r>
              <a:rPr sz="1500" b="1" i="0">
                <a:solidFill>
                  <a:srgbClr val="2D8C88"/>
                </a:solidFill>
              </a:rPr>
              <a:t>art --check 위반 0</a:t>
            </a:r>
          </a:p>
        </p:txBody>
      </p:sp>
      <p:sp>
        <p:nvSpPr>
          <p:cNvPr id="13" name="art-lesson-bg">
            <a:extLst xmlns:a="http://schemas.openxmlformats.org/drawingml/2006/main">
              <a:ext uri="{FF2B5EF4-FFF2-40B4-BE49-F238E27FC236}">
                <a16:creationId xmlns:a16="http://schemas.microsoft.com/office/drawing/2014/main" id="{3C9FFF41-6D45-48A5-9885-5369F3A2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rt-lesson">
            <a:extLst xmlns:a="http://schemas.openxmlformats.org/drawingml/2006/main">
              <a:ext uri="{FF2B5EF4-FFF2-40B4-BE49-F238E27FC236}">
                <a16:creationId xmlns:a16="http://schemas.microsoft.com/office/drawing/2014/main" id="{9F620A9B-FF6E-418D-8421-C4449FD3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15025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11318"/>
                </a:solidFill>
              </a:defRPr>
            </a:pPr>
            <a:r>
              <a:rPr sz="1575" b="1" i="0">
                <a:solidFill>
                  <a:srgbClr val="111318"/>
                </a:solidFill>
              </a:rPr>
              <a:t>실패에서 남긴 규칙 · 생성 원본은 줄이지 않고, 화면 크기와 파일 크기를 분리해 적는다</a:t>
            </a:r>
          </a:p>
        </p:txBody>
      </p:sp>
      <p:sp>
        <p:nvSpPr>
          <p:cNvPr id="15" name="footer-rule-10">
            <a:extLst xmlns:a="http://schemas.openxmlformats.org/drawingml/2006/main">
              <a:ext uri="{FF2B5EF4-FFF2-40B4-BE49-F238E27FC236}">
                <a16:creationId xmlns:a16="http://schemas.microsoft.com/office/drawing/2014/main" id="{48772AF7-9F12-48F5-9D9A-FAEFC86B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-left-10">
            <a:extLst xmlns:a="http://schemas.openxmlformats.org/drawingml/2006/main">
              <a:ext uri="{FF2B5EF4-FFF2-40B4-BE49-F238E27FC236}">
                <a16:creationId xmlns:a16="http://schemas.microsoft.com/office/drawing/2014/main" id="{39C0A8AB-BE95-4884-8661-561DA1AF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A8174"/>
                </a:solidFill>
              </a:defRPr>
            </a:pPr>
            <a:r>
              <a:rPr sz="975" b="0" i="0">
                <a:solidFill>
                  <a:srgbClr val="8A8174"/>
                </a:solidFill>
              </a:rPr>
              <a:t>신들의 저울 · AI 활용 기술</a:t>
            </a:r>
          </a:p>
        </p:txBody>
      </p:sp>
      <p:sp>
        <p:nvSpPr>
          <p:cNvPr id="17" name="footer-right-10">
            <a:extLst xmlns:a="http://schemas.openxmlformats.org/drawingml/2006/main">
              <a:ext uri="{FF2B5EF4-FFF2-40B4-BE49-F238E27FC236}">
                <a16:creationId xmlns:a16="http://schemas.microsoft.com/office/drawing/2014/main" id="{7C021224-1191-4A3E-9151-BDFC9949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8177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8A8174"/>
                </a:solidFill>
              </a:defRPr>
            </a:pPr>
            <a:r>
              <a:rPr sz="975" b="0" i="0">
                <a:solidFill>
                  <a:srgbClr val="8A8174"/>
                </a:solidFill>
              </a:rPr>
              <a:t>10 / 12</a:t>
            </a:r>
          </a:p>
        </p:txBody>
      </p:sp>
    </p:spTree>
    <p:extLst>
      <p:ext uri="{BB962C8B-B14F-4D97-AF65-F5344CB8AC3E}">
        <p14:creationId xmlns:p14="http://schemas.microsoft.com/office/powerpoint/2010/main" val="17056637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-11">
            <a:extLst xmlns:a="http://schemas.openxmlformats.org/drawingml/2006/main">
              <a:ext uri="{FF2B5EF4-FFF2-40B4-BE49-F238E27FC236}">
                <a16:creationId xmlns:a16="http://schemas.microsoft.com/office/drawing/2014/main" id="{9DC8D0C4-1119-4633-A252-EEC2F5A2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0C96B"/>
                </a:solidFill>
              </a:defRPr>
            </a:pPr>
            <a:r>
              <a:rPr sz="1200" b="1" i="0">
                <a:solidFill>
                  <a:srgbClr val="F0C96B"/>
                </a:solidFill>
              </a:rPr>
              <a:t>11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05463AF0-1FFD-4B85-9361-966463F8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11318"/>
                </a:solidFill>
              </a:defRPr>
            </a:pPr>
            <a:r>
              <a:rPr sz="3150" b="1" i="0">
                <a:solidFill>
                  <a:srgbClr val="111318"/>
                </a:solidFill>
              </a:rPr>
              <a:t>448개 음성은 생성보다 검증 순서가 먼저였다</a:t>
            </a:r>
          </a:p>
        </p:txBody>
      </p:sp>
      <p:sp>
        <p:nvSpPr>
          <p:cNvPr id="3" name="subhead-11">
            <a:extLst xmlns:a="http://schemas.openxmlformats.org/drawingml/2006/main">
              <a:ext uri="{FF2B5EF4-FFF2-40B4-BE49-F238E27FC236}">
                <a16:creationId xmlns:a16="http://schemas.microsoft.com/office/drawing/2014/main" id="{AED537C9-7EB7-4308-A67C-9646BC0F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B7280"/>
                </a:solidFill>
              </a:defRPr>
            </a:pPr>
            <a:r>
              <a:rPr sz="1650" b="0" i="0">
                <a:solidFill>
                  <a:srgbClr val="6B7280"/>
                </a:solidFill>
              </a:rPr>
              <a:t>신별 스모크와 Python↔TypeScript 해시 패리티가 배치 생성 앞에 선다.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25903c11174db5"/>
          <a:stretch xmlns:a="http://schemas.openxmlformats.org/drawingml/2006/main"/>
        </p:blipFill>
        <p:spPr>
          <a:xfrm xmlns:a="http://schemas.openxmlformats.org/drawingml/2006/main">
            <a:off x="695325" y="2152650"/>
            <a:ext cx="10801350" cy="3086100"/>
          </a:xfrm>
          <a:prstGeom xmlns:a="http://schemas.openxmlformats.org/drawingml/2006/main" prst="rect">
            <a:avLst/>
          </a:prstGeom>
        </p:spPr>
      </p:pic>
      <p:sp>
        <p:nvSpPr>
          <p:cNvPr id="5" name="voice-stage-title-0">
            <a:extLst xmlns:a="http://schemas.openxmlformats.org/drawingml/2006/main">
              <a:ext uri="{FF2B5EF4-FFF2-40B4-BE49-F238E27FC236}">
                <a16:creationId xmlns:a16="http://schemas.microsoft.com/office/drawing/2014/main" id="{894C81AC-4919-43B2-818F-59CEF14E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527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1318"/>
                </a:solidFill>
              </a:defRPr>
            </a:pPr>
            <a:r>
              <a:rPr sz="1650" b="1" i="0">
                <a:solidFill>
                  <a:srgbClr val="111318"/>
                </a:solidFill>
              </a:rPr>
              <a:t>gods.json</a:t>
            </a:r>
          </a:p>
        </p:txBody>
      </p:sp>
      <p:sp>
        <p:nvSpPr>
          <p:cNvPr id="6" name="voice-stage-body-0">
            <a:extLst xmlns:a="http://schemas.openxmlformats.org/drawingml/2006/main">
              <a:ext uri="{FF2B5EF4-FFF2-40B4-BE49-F238E27FC236}">
                <a16:creationId xmlns:a16="http://schemas.microsoft.com/office/drawing/2014/main" id="{774D9ACD-ADA7-4A8F-AF48-C7E6EC7B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528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6B7280"/>
                </a:solidFill>
              </a:defRPr>
            </a:pPr>
            <a:r>
              <a:rPr sz="1425" b="0" i="0">
                <a:solidFill>
                  <a:srgbClr val="6B7280"/>
                </a:solidFill>
              </a:rPr>
              <a:t>448줄 대사</a:t>
            </a:r>
          </a:p>
        </p:txBody>
      </p:sp>
      <p:sp>
        <p:nvSpPr>
          <p:cNvPr id="7" name="voice-stage-title-1">
            <a:extLst xmlns:a="http://schemas.openxmlformats.org/drawingml/2006/main">
              <a:ext uri="{FF2B5EF4-FFF2-40B4-BE49-F238E27FC236}">
                <a16:creationId xmlns:a16="http://schemas.microsoft.com/office/drawing/2014/main" id="{E56B2560-3944-48C3-A6D5-AECF68EE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527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1318"/>
                </a:solidFill>
              </a:defRPr>
            </a:pPr>
            <a:r>
              <a:rPr sz="1650" b="1" i="0">
                <a:solidFill>
                  <a:srgbClr val="111318"/>
                </a:solidFill>
              </a:rPr>
              <a:t>tools/tts.py</a:t>
            </a:r>
          </a:p>
        </p:txBody>
      </p:sp>
      <p:sp>
        <p:nvSpPr>
          <p:cNvPr id="8" name="voice-stage-body-1">
            <a:extLst xmlns:a="http://schemas.openxmlformats.org/drawingml/2006/main">
              <a:ext uri="{FF2B5EF4-FFF2-40B4-BE49-F238E27FC236}">
                <a16:creationId xmlns:a16="http://schemas.microsoft.com/office/drawing/2014/main" id="{40654753-6462-4F60-B233-1682AA46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528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6B7280"/>
                </a:solidFill>
              </a:defRPr>
            </a:pPr>
            <a:r>
              <a:rPr sz="1425" b="0" i="0">
                <a:solidFill>
                  <a:srgbClr val="6B7280"/>
                </a:solidFill>
              </a:rPr>
              <a:t>신별 화자·톤</a:t>
            </a:r>
          </a:p>
        </p:txBody>
      </p:sp>
      <p:sp>
        <p:nvSpPr>
          <p:cNvPr id="9" name="voice-stage-title-2">
            <a:extLst xmlns:a="http://schemas.openxmlformats.org/drawingml/2006/main">
              <a:ext uri="{FF2B5EF4-FFF2-40B4-BE49-F238E27FC236}">
                <a16:creationId xmlns:a16="http://schemas.microsoft.com/office/drawing/2014/main" id="{5D34BF17-82CF-49DE-AB0F-6C2656BC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527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1318"/>
                </a:solidFill>
              </a:defRPr>
            </a:pPr>
            <a:r>
              <a:rPr sz="1650" b="1" i="0">
                <a:solidFill>
                  <a:srgbClr val="111318"/>
                </a:solidFill>
              </a:rPr>
              <a:t>{해시}.m4a</a:t>
            </a:r>
          </a:p>
        </p:txBody>
      </p:sp>
      <p:sp>
        <p:nvSpPr>
          <p:cNvPr id="10" name="voice-stage-body-2">
            <a:extLst xmlns:a="http://schemas.openxmlformats.org/drawingml/2006/main">
              <a:ext uri="{FF2B5EF4-FFF2-40B4-BE49-F238E27FC236}">
                <a16:creationId xmlns:a16="http://schemas.microsoft.com/office/drawing/2014/main" id="{EF2B9011-DC18-45C8-BBA7-F1163B7C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528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6B7280"/>
                </a:solidFill>
              </a:defRPr>
            </a:pPr>
            <a:r>
              <a:rPr sz="1425" b="0" i="0">
                <a:solidFill>
                  <a:srgbClr val="6B7280"/>
                </a:solidFill>
              </a:rPr>
              <a:t>FNV-1a 파일명</a:t>
            </a:r>
          </a:p>
        </p:txBody>
      </p:sp>
      <p:sp>
        <p:nvSpPr>
          <p:cNvPr id="11" name="voice-stage-title-3">
            <a:extLst xmlns:a="http://schemas.openxmlformats.org/drawingml/2006/main">
              <a:ext uri="{FF2B5EF4-FFF2-40B4-BE49-F238E27FC236}">
                <a16:creationId xmlns:a16="http://schemas.microsoft.com/office/drawing/2014/main" id="{33E49FA6-A0B1-4B55-8F0B-DBD78703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527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1318"/>
                </a:solidFill>
              </a:defRPr>
            </a:pPr>
            <a:r>
              <a:rPr sz="1650" b="1" i="0">
                <a:solidFill>
                  <a:srgbClr val="111318"/>
                </a:solidFill>
              </a:rPr>
              <a:t>speak()</a:t>
            </a:r>
          </a:p>
        </p:txBody>
      </p:sp>
      <p:sp>
        <p:nvSpPr>
          <p:cNvPr id="12" name="voice-stage-body-3">
            <a:extLst xmlns:a="http://schemas.openxmlformats.org/drawingml/2006/main">
              <a:ext uri="{FF2B5EF4-FFF2-40B4-BE49-F238E27FC236}">
                <a16:creationId xmlns:a16="http://schemas.microsoft.com/office/drawing/2014/main" id="{C6E6A5F2-85FB-4542-B451-C5F36856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528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6B7280"/>
                </a:solidFill>
              </a:defRPr>
            </a:pPr>
            <a:r>
              <a:rPr sz="1425" b="0" i="0">
                <a:solidFill>
                  <a:srgbClr val="6B7280"/>
                </a:solidFill>
              </a:rPr>
              <a:t>호출부 7곳</a:t>
            </a:r>
          </a:p>
        </p:txBody>
      </p:sp>
      <p:sp>
        <p:nvSpPr>
          <p:cNvPr id="13" name="voice-check1">
            <a:extLst xmlns:a="http://schemas.openxmlformats.org/drawingml/2006/main">
              <a:ext uri="{FF2B5EF4-FFF2-40B4-BE49-F238E27FC236}">
                <a16:creationId xmlns:a16="http://schemas.microsoft.com/office/drawing/2014/main" id="{502EB3C7-6A8F-44BA-B644-E50DC5D3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5339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11318"/>
                </a:solidFill>
              </a:defRPr>
            </a:pPr>
            <a:r>
              <a:rPr sz="1575" b="1" i="0">
                <a:solidFill>
                  <a:srgbClr val="111318"/>
                </a:solidFill>
              </a:rPr>
              <a:t>신별 스모크</a:t>
            </a:r>
          </a:p>
        </p:txBody>
      </p:sp>
      <p:sp>
        <p:nvSpPr>
          <p:cNvPr id="14" name="voice-check2">
            <a:extLst xmlns:a="http://schemas.openxmlformats.org/drawingml/2006/main">
              <a:ext uri="{FF2B5EF4-FFF2-40B4-BE49-F238E27FC236}">
                <a16:creationId xmlns:a16="http://schemas.microsoft.com/office/drawing/2014/main" id="{CA820520-1B1A-442A-A6D1-1CCEEE2E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5339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11318"/>
                </a:solidFill>
              </a:defRPr>
            </a:pPr>
            <a:r>
              <a:rPr sz="1575" b="1" i="0">
                <a:solidFill>
                  <a:srgbClr val="111318"/>
                </a:solidFill>
              </a:rPr>
              <a:t>해시 패리티</a:t>
            </a:r>
          </a:p>
        </p:txBody>
      </p:sp>
      <p:sp>
        <p:nvSpPr>
          <p:cNvPr id="15" name="voice-check-caption">
            <a:extLst xmlns:a="http://schemas.openxmlformats.org/drawingml/2006/main">
              <a:ext uri="{FF2B5EF4-FFF2-40B4-BE49-F238E27FC236}">
                <a16:creationId xmlns:a16="http://schemas.microsoft.com/office/drawing/2014/main" id="{CF107D68-C8F6-4F69-BB47-3F8D3764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21970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6B7280"/>
                </a:solidFill>
              </a:defRPr>
            </a:pPr>
            <a:r>
              <a:rPr sz="1350" b="0" i="0">
                <a:solidFill>
                  <a:srgbClr val="6B7280"/>
                </a:solidFill>
              </a:rPr>
              <a:t>본 생성 전 억양 확인</a:t>
            </a:r>
          </a:p>
        </p:txBody>
      </p:sp>
      <p:sp>
        <p:nvSpPr>
          <p:cNvPr id="16" name="voice-hash-caption">
            <a:extLst xmlns:a="http://schemas.openxmlformats.org/drawingml/2006/main">
              <a:ext uri="{FF2B5EF4-FFF2-40B4-BE49-F238E27FC236}">
                <a16:creationId xmlns:a16="http://schemas.microsoft.com/office/drawing/2014/main" id="{8CBC821A-32DA-49AD-BE9E-96F643C1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19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6B7280"/>
                </a:solidFill>
              </a:defRPr>
            </a:pPr>
            <a:r>
              <a:rPr sz="1350" b="0" i="0">
                <a:solidFill>
                  <a:srgbClr val="6B7280"/>
                </a:solidFill>
              </a:rPr>
              <a:t>텍스트가 바뀌면 파일명도 변경</a:t>
            </a:r>
          </a:p>
        </p:txBody>
      </p:sp>
      <p:sp>
        <p:nvSpPr>
          <p:cNvPr id="17" name="voice-extra">
            <a:extLst xmlns:a="http://schemas.openxmlformats.org/drawingml/2006/main">
              <a:ext uri="{FF2B5EF4-FFF2-40B4-BE49-F238E27FC236}">
                <a16:creationId xmlns:a16="http://schemas.microsoft.com/office/drawing/2014/main" id="{E318F7A3-202C-465C-AEA4-6A785C55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90550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318"/>
                </a:solidFill>
              </a:defRPr>
            </a:pPr>
            <a:r>
              <a:rPr sz="1500" b="1" i="0">
                <a:solidFill>
                  <a:srgbClr val="111318"/>
                </a:solidFill>
              </a:rPr>
              <a:t>로컬 Qwen3-TTS · API 비용 0  |  BGM 2곡 · 컷인 영상 5개는 Gemini</a:t>
            </a:r>
          </a:p>
        </p:txBody>
      </p:sp>
      <p:sp>
        <p:nvSpPr>
          <p:cNvPr id="18" name="footer-rule-11">
            <a:extLst xmlns:a="http://schemas.openxmlformats.org/drawingml/2006/main">
              <a:ext uri="{FF2B5EF4-FFF2-40B4-BE49-F238E27FC236}">
                <a16:creationId xmlns:a16="http://schemas.microsoft.com/office/drawing/2014/main" id="{B3B84A50-32AF-472F-9407-3345AEA2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left-11">
            <a:extLst xmlns:a="http://schemas.openxmlformats.org/drawingml/2006/main">
              <a:ext uri="{FF2B5EF4-FFF2-40B4-BE49-F238E27FC236}">
                <a16:creationId xmlns:a16="http://schemas.microsoft.com/office/drawing/2014/main" id="{74AFBFF4-A6AC-4606-8943-1B5617EF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A8174"/>
                </a:solidFill>
              </a:defRPr>
            </a:pPr>
            <a:r>
              <a:rPr sz="975" b="0" i="0">
                <a:solidFill>
                  <a:srgbClr val="8A8174"/>
                </a:solidFill>
              </a:rPr>
              <a:t>신들의 저울 · AI 활용 기술</a:t>
            </a:r>
          </a:p>
        </p:txBody>
      </p:sp>
      <p:sp>
        <p:nvSpPr>
          <p:cNvPr id="20" name="footer-right-11">
            <a:extLst xmlns:a="http://schemas.openxmlformats.org/drawingml/2006/main">
              <a:ext uri="{FF2B5EF4-FFF2-40B4-BE49-F238E27FC236}">
                <a16:creationId xmlns:a16="http://schemas.microsoft.com/office/drawing/2014/main" id="{FAE4DDC4-C99C-4A8C-B0E1-0C3CBB94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8177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8A8174"/>
                </a:solidFill>
              </a:defRPr>
            </a:pPr>
            <a:r>
              <a:rPr sz="975" b="0" i="0">
                <a:solidFill>
                  <a:srgbClr val="8A8174"/>
                </a:solidFill>
              </a:rPr>
              <a:t>11 / 12</a:t>
            </a:r>
          </a:p>
        </p:txBody>
      </p:sp>
    </p:spTree>
    <p:extLst>
      <p:ext uri="{BB962C8B-B14F-4D97-AF65-F5344CB8AC3E}">
        <p14:creationId xmlns:p14="http://schemas.microsoft.com/office/powerpoint/2010/main" val="11027414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1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untime-eyebrow">
            <a:extLst xmlns:a="http://schemas.openxmlformats.org/drawingml/2006/main">
              <a:ext uri="{FF2B5EF4-FFF2-40B4-BE49-F238E27FC236}">
                <a16:creationId xmlns:a16="http://schemas.microsoft.com/office/drawing/2014/main" id="{D09F2F48-C2FD-4D27-A52E-8106D8B4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0C96B"/>
                </a:solidFill>
              </a:defRPr>
            </a:pPr>
            <a:r>
              <a:rPr sz="1350" b="1" i="0">
                <a:solidFill>
                  <a:srgbClr val="F0C96B"/>
                </a:solidFill>
              </a:rPr>
              <a:t>DEPLOYMENT BOUNDARY</a:t>
            </a:r>
          </a:p>
        </p:txBody>
      </p:sp>
      <p:sp>
        <p:nvSpPr>
          <p:cNvPr id="2" name="runtime-title">
            <a:extLst xmlns:a="http://schemas.openxmlformats.org/drawingml/2006/main">
              <a:ext uri="{FF2B5EF4-FFF2-40B4-BE49-F238E27FC236}">
                <a16:creationId xmlns:a16="http://schemas.microsoft.com/office/drawing/2014/main" id="{CF32DE4F-2912-4444-99E9-C083F80F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33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FFFFFF"/>
                </a:solidFill>
              </a:defRPr>
            </a:pPr>
            <a:r>
              <a:rPr sz="3900" b="1" i="0">
                <a:solidFill>
                  <a:srgbClr val="FFFFFF"/>
                </a:solidFill>
              </a:rPr>
              <a:t>플레이 중 LLM 호출은 0회다</a:t>
            </a:r>
          </a:p>
        </p:txBody>
      </p:sp>
      <p:sp>
        <p:nvSpPr>
          <p:cNvPr id="3" name="runtime-sub">
            <a:extLst xmlns:a="http://schemas.openxmlformats.org/drawingml/2006/main">
              <a:ext uri="{FF2B5EF4-FFF2-40B4-BE49-F238E27FC236}">
                <a16:creationId xmlns:a16="http://schemas.microsoft.com/office/drawing/2014/main" id="{23D872AC-2AD4-4E5C-8FEA-0481147A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981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C8CBD2"/>
                </a:solidFill>
              </a:defRPr>
            </a:pPr>
            <a:r>
              <a:rPr sz="1800" b="0" i="0">
                <a:solidFill>
                  <a:srgbClr val="C8CBD2"/>
                </a:solidFill>
              </a:rPr>
              <a:t>AI는 빌드타임에만 일하고, 배포물에는 정적 파일과 검증 가능한 증거만 남는다.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15a395ad8a42a6"/>
          <a:stretch xmlns:a="http://schemas.openxmlformats.org/drawingml/2006/main"/>
        </p:blipFill>
        <p:spPr>
          <a:xfrm xmlns:a="http://schemas.openxmlformats.org/drawingml/2006/main">
            <a:off x="695325" y="2457450"/>
            <a:ext cx="10801350" cy="3086100"/>
          </a:xfrm>
          <a:prstGeom xmlns:a="http://schemas.openxmlformats.org/drawingml/2006/main" prst="rect">
            <a:avLst/>
          </a:prstGeom>
        </p:spPr>
      </p:pic>
      <p:sp>
        <p:nvSpPr>
          <p:cNvPr id="5" name="runtime-col1">
            <a:extLst xmlns:a="http://schemas.openxmlformats.org/drawingml/2006/main">
              <a:ext uri="{FF2B5EF4-FFF2-40B4-BE49-F238E27FC236}">
                <a16:creationId xmlns:a16="http://schemas.microsoft.com/office/drawing/2014/main" id="{DE60B28C-3443-49AE-83A5-D8F87B52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9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11318"/>
                </a:solidFill>
              </a:defRPr>
            </a:pPr>
            <a:r>
              <a:rPr sz="1575" b="1" i="0">
                <a:solidFill>
                  <a:srgbClr val="111318"/>
                </a:solidFill>
              </a:rPr>
              <a:t>빌드타임</a:t>
            </a:r>
          </a:p>
        </p:txBody>
      </p:sp>
      <p:sp>
        <p:nvSpPr>
          <p:cNvPr id="6" name="runtime-build">
            <a:extLst xmlns:a="http://schemas.openxmlformats.org/drawingml/2006/main">
              <a:ext uri="{FF2B5EF4-FFF2-40B4-BE49-F238E27FC236}">
                <a16:creationId xmlns:a16="http://schemas.microsoft.com/office/drawing/2014/main" id="{8D562818-FDD5-4901-8059-334AF04D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0400"/>
            <a:ext cx="27051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1B1F27"/>
                </a:solidFill>
              </a:defRPr>
            </a:pPr>
            <a:r>
              <a:rPr sz="1650" b="0" i="0">
                <a:solidFill>
                  <a:srgbClr val="1B1F27"/>
                </a:solidFill>
              </a:rPr>
              <a:t>콘텐츠 생성</a:t>
            </a:r>
          </a:p>
          <a:p xmlns:a="http://schemas.openxmlformats.org/drawingml/2006/main">
            <a:pPr algn="ctr">
              <a:defRPr sz="1650" b="0" i="0">
                <a:solidFill>
                  <a:srgbClr val="1B1F27"/>
                </a:solidFill>
              </a:defRPr>
            </a:pPr>
            <a:r>
              <a:rPr sz="1650" b="0" i="0">
                <a:solidFill>
                  <a:srgbClr val="1B1F27"/>
                </a:solidFill>
              </a:rPr>
              <a:t>검증 · 튜닝</a:t>
            </a:r>
          </a:p>
          <a:p xmlns:a="http://schemas.openxmlformats.org/drawingml/2006/main">
            <a:pPr algn="ctr">
              <a:defRPr sz="1650" b="0" i="0">
                <a:solidFill>
                  <a:srgbClr val="1B1F27"/>
                </a:solidFill>
              </a:defRPr>
            </a:pPr>
            <a:r>
              <a:rPr sz="1650" b="0" i="0">
                <a:solidFill>
                  <a:srgbClr val="1B1F27"/>
                </a:solidFill>
              </a:rPr>
              <a:t>아트 · 음성</a:t>
            </a:r>
          </a:p>
        </p:txBody>
      </p:sp>
      <p:sp>
        <p:nvSpPr>
          <p:cNvPr id="7" name="runtime-col2">
            <a:extLst xmlns:a="http://schemas.openxmlformats.org/drawingml/2006/main">
              <a:ext uri="{FF2B5EF4-FFF2-40B4-BE49-F238E27FC236}">
                <a16:creationId xmlns:a16="http://schemas.microsoft.com/office/drawing/2014/main" id="{4F67541A-715A-4AAB-A0B9-0DCFD541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09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11318"/>
                </a:solidFill>
              </a:defRPr>
            </a:pPr>
            <a:r>
              <a:rPr sz="1575" b="1" i="0">
                <a:solidFill>
                  <a:srgbClr val="111318"/>
                </a:solidFill>
              </a:rPr>
              <a:t>dist/</a:t>
            </a:r>
          </a:p>
        </p:txBody>
      </p:sp>
      <p:sp>
        <p:nvSpPr>
          <p:cNvPr id="8" name="runtime-dist">
            <a:extLst xmlns:a="http://schemas.openxmlformats.org/drawingml/2006/main">
              <a:ext uri="{FF2B5EF4-FFF2-40B4-BE49-F238E27FC236}">
                <a16:creationId xmlns:a16="http://schemas.microsoft.com/office/drawing/2014/main" id="{A7205933-5114-4F42-8A82-568C2EB5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429000"/>
            <a:ext cx="2705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B1F27"/>
                </a:solidFill>
              </a:defRPr>
            </a:pPr>
            <a:r>
              <a:rPr sz="1725" b="1" i="0">
                <a:solidFill>
                  <a:srgbClr val="1B1F27"/>
                </a:solidFill>
              </a:rPr>
              <a:t>정적 JS · JSON</a:t>
            </a:r>
          </a:p>
          <a:p xmlns:a="http://schemas.openxmlformats.org/drawingml/2006/main">
            <a:pPr algn="ctr">
              <a:defRPr sz="1725" b="1" i="0">
                <a:solidFill>
                  <a:srgbClr val="1B1F27"/>
                </a:solidFill>
              </a:defRPr>
            </a:pPr>
            <a:r>
              <a:rPr sz="1725" b="1" i="0">
                <a:solidFill>
                  <a:srgbClr val="1B1F27"/>
                </a:solidFill>
              </a:rPr>
              <a:t>이미지 · 오디오</a:t>
            </a:r>
          </a:p>
        </p:txBody>
      </p:sp>
      <p:sp>
        <p:nvSpPr>
          <p:cNvPr id="9" name="runtime-col3">
            <a:extLst xmlns:a="http://schemas.openxmlformats.org/drawingml/2006/main">
              <a:ext uri="{FF2B5EF4-FFF2-40B4-BE49-F238E27FC236}">
                <a16:creationId xmlns:a16="http://schemas.microsoft.com/office/drawing/2014/main" id="{5B5921A2-879A-4881-8A22-639F392F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09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11318"/>
                </a:solidFill>
              </a:defRPr>
            </a:pPr>
            <a:r>
              <a:rPr sz="1575" b="1" i="0">
                <a:solidFill>
                  <a:srgbClr val="111318"/>
                </a:solidFill>
              </a:rPr>
              <a:t>런타임</a:t>
            </a:r>
          </a:p>
        </p:txBody>
      </p:sp>
      <p:sp>
        <p:nvSpPr>
          <p:cNvPr id="10" name="runtime-run">
            <a:extLst xmlns:a="http://schemas.openxmlformats.org/drawingml/2006/main">
              <a:ext uri="{FF2B5EF4-FFF2-40B4-BE49-F238E27FC236}">
                <a16:creationId xmlns:a16="http://schemas.microsoft.com/office/drawing/2014/main" id="{F78ED5F5-D868-424C-AC4A-595CBE80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00400"/>
            <a:ext cx="27051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B1F27"/>
                </a:solidFill>
              </a:defRPr>
            </a:pPr>
            <a:r>
              <a:rPr sz="1650" b="1" i="0">
                <a:solidFill>
                  <a:srgbClr val="1B1F27"/>
                </a:solidFill>
              </a:rPr>
              <a:t>LLM 호출 0회</a:t>
            </a:r>
          </a:p>
          <a:p xmlns:a="http://schemas.openxmlformats.org/drawingml/2006/main">
            <a:pPr algn="ctr">
              <a:defRPr sz="1650" b="1" i="0">
                <a:solidFill>
                  <a:srgbClr val="1B1F27"/>
                </a:solidFill>
              </a:defRPr>
            </a:pPr>
            <a:r>
              <a:rPr sz="1650" b="1" i="0">
                <a:solidFill>
                  <a:srgbClr val="1B1F27"/>
                </a:solidFill>
              </a:rPr>
              <a:t>API 키 없음</a:t>
            </a:r>
          </a:p>
          <a:p xmlns:a="http://schemas.openxmlformats.org/drawingml/2006/main">
            <a:pPr algn="ctr">
              <a:defRPr sz="1650" b="1" i="0">
                <a:solidFill>
                  <a:srgbClr val="1B1F27"/>
                </a:solidFill>
              </a:defRPr>
            </a:pPr>
            <a:r>
              <a:rPr sz="1650" b="1" i="0">
                <a:solidFill>
                  <a:srgbClr val="1B1F27"/>
                </a:solidFill>
              </a:rPr>
              <a:t>네트워크 의존 없음</a:t>
            </a:r>
          </a:p>
        </p:txBody>
      </p:sp>
      <p:sp>
        <p:nvSpPr>
          <p:cNvPr id="11" name="runtime-boundary-label">
            <a:extLst xmlns:a="http://schemas.openxmlformats.org/drawingml/2006/main">
              <a:ext uri="{FF2B5EF4-FFF2-40B4-BE49-F238E27FC236}">
                <a16:creationId xmlns:a16="http://schemas.microsoft.com/office/drawing/2014/main" id="{45C896F6-0D33-49C0-851A-7B766445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9530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GREP GATE로 배포 경계를 검사</a:t>
            </a:r>
          </a:p>
        </p:txBody>
      </p:sp>
      <p:sp>
        <p:nvSpPr>
          <p:cNvPr id="12" name="runtime-close">
            <a:extLst xmlns:a="http://schemas.openxmlformats.org/drawingml/2006/main">
              <a:ext uri="{FF2B5EF4-FFF2-40B4-BE49-F238E27FC236}">
                <a16:creationId xmlns:a16="http://schemas.microsoft.com/office/drawing/2014/main" id="{CA84A1ED-66A6-4219-BD8C-7F3DBC44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753100"/>
            <a:ext cx="9296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AI는 코더·작가·화가·성우·플레이테스터였다.</a:t>
            </a:r>
          </a:p>
          <a:p xmlns:a="http://schemas.openxmlformats.org/drawingml/2006/main">
            <a:pPr algn="ctr"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사람의 일은 그 전부에 검증 단계를 붙이는 것이었다.</a:t>
            </a:r>
          </a:p>
        </p:txBody>
      </p:sp>
      <p:sp>
        <p:nvSpPr>
          <p:cNvPr id="13" name="footer-rule-12">
            <a:extLst xmlns:a="http://schemas.openxmlformats.org/drawingml/2006/main">
              <a:ext uri="{FF2B5EF4-FFF2-40B4-BE49-F238E27FC236}">
                <a16:creationId xmlns:a16="http://schemas.microsoft.com/office/drawing/2014/main" id="{FAAB7E11-39D8-4425-8A86-BC46C258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0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-12">
            <a:extLst xmlns:a="http://schemas.openxmlformats.org/drawingml/2006/main">
              <a:ext uri="{FF2B5EF4-FFF2-40B4-BE49-F238E27FC236}">
                <a16:creationId xmlns:a16="http://schemas.microsoft.com/office/drawing/2014/main" id="{ECD9EB77-01D4-4497-83D0-56536D6F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C919B"/>
                </a:solidFill>
              </a:defRPr>
            </a:pPr>
            <a:r>
              <a:rPr sz="975" b="0" i="0">
                <a:solidFill>
                  <a:srgbClr val="8C919B"/>
                </a:solidFill>
              </a:rPr>
              <a:t>신들의 저울 · AI 활용 기술</a:t>
            </a:r>
          </a:p>
        </p:txBody>
      </p:sp>
      <p:sp>
        <p:nvSpPr>
          <p:cNvPr id="15" name="footer-right-12">
            <a:extLst xmlns:a="http://schemas.openxmlformats.org/drawingml/2006/main">
              <a:ext uri="{FF2B5EF4-FFF2-40B4-BE49-F238E27FC236}">
                <a16:creationId xmlns:a16="http://schemas.microsoft.com/office/drawing/2014/main" id="{24123A4A-D732-482F-A1F0-B9E12887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8177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8C919B"/>
                </a:solidFill>
              </a:defRPr>
            </a:pPr>
            <a:r>
              <a:rPr sz="975" b="0" i="0">
                <a:solidFill>
                  <a:srgbClr val="8C919B"/>
                </a:solidFill>
              </a:rPr>
              <a:t>12 / 12</a:t>
            </a:r>
          </a:p>
        </p:txBody>
      </p:sp>
    </p:spTree>
    <p:extLst>
      <p:ext uri="{BB962C8B-B14F-4D97-AF65-F5344CB8AC3E}">
        <p14:creationId xmlns:p14="http://schemas.microsoft.com/office/powerpoint/2010/main" val="1550516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2026-08-09T16:19:49.5740000Z</dcterms:created>
  <dcterms:modified xsi:type="dcterms:W3CDTF">2026-08-09T16:19:49.5740000Z</dcterms:modified>
</coreProperties>
</file>